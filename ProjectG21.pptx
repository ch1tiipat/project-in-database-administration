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Gotham Bold" charset="1" panose="00000000000000000000"/>
      <p:regular r:id="rId37"/>
    </p:embeddedFont>
    <p:embeddedFont>
      <p:font typeface="Canva Sans" charset="1" panose="020B0503030501040103"/>
      <p:regular r:id="rId38"/>
    </p:embeddedFont>
    <p:embeddedFont>
      <p:font typeface="Canva Sans Bold" charset="1" panose="020B0803030501040103"/>
      <p:regular r:id="rId39"/>
    </p:embeddedFont>
    <p:embeddedFont>
      <p:font typeface="Gotham" charset="1" panose="0000000000000000000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embeddings/oleObject3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embeddings/oleObject4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embeddings/oleObject5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embeddings/oleObject6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embeddings/oleObject7.bin" Type="http://schemas.openxmlformats.org/officeDocument/2006/relationships/oleObject"/><Relationship Id="rId4" Target="../media/image22.png" Type="http://schemas.openxmlformats.org/officeDocument/2006/relationships/image"/><Relationship Id="rId5" Target="../embeddings/oleObject8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embeddings/oleObject9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embeddings/oleObject10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embeddings/oleObject11.bin" Type="http://schemas.openxmlformats.org/officeDocument/2006/relationships/oleObject"/><Relationship Id="rId4" Target="../media/image26.png" Type="http://schemas.openxmlformats.org/officeDocument/2006/relationships/image"/><Relationship Id="rId5" Target="../embeddings/oleObject12.bin" Type="http://schemas.openxmlformats.org/officeDocument/2006/relationships/oleObjec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embeddings/oleObject13.bin" Type="http://schemas.openxmlformats.org/officeDocument/2006/relationships/oleObjec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embeddings/oleObject14.bin" Type="http://schemas.openxmlformats.org/officeDocument/2006/relationships/oleObject"/><Relationship Id="rId4" Target="../media/image29.png" Type="http://schemas.openxmlformats.org/officeDocument/2006/relationships/image"/><Relationship Id="rId5" Target="../embeddings/oleObject15.bin" Type="http://schemas.openxmlformats.org/officeDocument/2006/relationships/oleObjec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png" Type="http://schemas.openxmlformats.org/officeDocument/2006/relationships/image"/><Relationship Id="rId12" Target="../media/image48.png" Type="http://schemas.openxmlformats.org/officeDocument/2006/relationships/image"/><Relationship Id="rId13" Target="../media/image49.png" Type="http://schemas.openxmlformats.org/officeDocument/2006/relationships/image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2" Target="../media/image50.png" Type="http://schemas.openxmlformats.org/officeDocument/2006/relationships/image"/><Relationship Id="rId3" Target="../media/image51.pn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6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64.png" Type="http://schemas.openxmlformats.org/officeDocument/2006/relationships/image"/><Relationship Id="rId5" Target="../media/image65.png" Type="http://schemas.openxmlformats.org/officeDocument/2006/relationships/image"/><Relationship Id="rId6" Target="../media/image66.png" Type="http://schemas.openxmlformats.org/officeDocument/2006/relationships/image"/><Relationship Id="rId7" Target="../media/image6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8.png" Type="http://schemas.openxmlformats.org/officeDocument/2006/relationships/image"/><Relationship Id="rId4" Target="../media/image69.png" Type="http://schemas.openxmlformats.org/officeDocument/2006/relationships/image"/><Relationship Id="rId5" Target="../media/image70.png" Type="http://schemas.openxmlformats.org/officeDocument/2006/relationships/image"/><Relationship Id="rId6" Target="../media/image71.png" Type="http://schemas.openxmlformats.org/officeDocument/2006/relationships/image"/><Relationship Id="rId7" Target="../media/image7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74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Relationship Id="rId6" Target="../media/image77.png" Type="http://schemas.openxmlformats.org/officeDocument/2006/relationships/image"/><Relationship Id="rId7" Target="../media/image7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png" Type="http://schemas.openxmlformats.org/officeDocument/2006/relationships/image"/><Relationship Id="rId3" Target="../media/image80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1.png" Type="http://schemas.openxmlformats.org/officeDocument/2006/relationships/image"/><Relationship Id="rId3" Target="../media/image82.png" Type="http://schemas.openxmlformats.org/officeDocument/2006/relationships/image"/><Relationship Id="rId4" Target="../media/image83.png" Type="http://schemas.openxmlformats.org/officeDocument/2006/relationships/image"/><Relationship Id="rId5" Target="../media/image84.png" Type="http://schemas.openxmlformats.org/officeDocument/2006/relationships/image"/><Relationship Id="rId6" Target="../media/image85.png" Type="http://schemas.openxmlformats.org/officeDocument/2006/relationships/image"/><Relationship Id="rId7" Target="../media/image8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7.png" Type="http://schemas.openxmlformats.org/officeDocument/2006/relationships/image"/><Relationship Id="rId3" Target="../media/image88.png" Type="http://schemas.openxmlformats.org/officeDocument/2006/relationships/image"/><Relationship Id="rId4" Target="../media/image89.png" Type="http://schemas.openxmlformats.org/officeDocument/2006/relationships/image"/><Relationship Id="rId5" Target="../media/image90.png" Type="http://schemas.openxmlformats.org/officeDocument/2006/relationships/image"/><Relationship Id="rId6" Target="../media/image91.png" Type="http://schemas.openxmlformats.org/officeDocument/2006/relationships/image"/><Relationship Id="rId7" Target="../media/image9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3.png" Type="http://schemas.openxmlformats.org/officeDocument/2006/relationships/image"/><Relationship Id="rId3" Target="../media/image94.png" Type="http://schemas.openxmlformats.org/officeDocument/2006/relationships/image"/><Relationship Id="rId4" Target="../media/image95.png" Type="http://schemas.openxmlformats.org/officeDocument/2006/relationships/image"/><Relationship Id="rId5" Target="../media/image96.png" Type="http://schemas.openxmlformats.org/officeDocument/2006/relationships/image"/><Relationship Id="rId6" Target="../media/image97.png" Type="http://schemas.openxmlformats.org/officeDocument/2006/relationships/image"/><Relationship Id="rId7" Target="../media/image98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9.png" Type="http://schemas.openxmlformats.org/officeDocument/2006/relationships/image"/><Relationship Id="rId3" Target="../media/image100.png" Type="http://schemas.openxmlformats.org/officeDocument/2006/relationships/image"/><Relationship Id="rId4" Target="../media/image101.png" Type="http://schemas.openxmlformats.org/officeDocument/2006/relationships/image"/><Relationship Id="rId5" Target="../media/image102.png" Type="http://schemas.openxmlformats.org/officeDocument/2006/relationships/image"/><Relationship Id="rId6" Target="../media/image103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2400" y="0"/>
            <a:ext cx="18890720" cy="10287000"/>
            <a:chOff x="0" y="0"/>
            <a:chExt cx="1616270" cy="8801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6270" cy="880145"/>
            </a:xfrm>
            <a:custGeom>
              <a:avLst/>
              <a:gdLst/>
              <a:ahLst/>
              <a:cxnLst/>
              <a:rect r="r" b="b" t="t" l="l"/>
              <a:pathLst>
                <a:path h="880145" w="1616270">
                  <a:moveTo>
                    <a:pt x="0" y="0"/>
                  </a:moveTo>
                  <a:lnTo>
                    <a:pt x="1616270" y="0"/>
                  </a:lnTo>
                  <a:lnTo>
                    <a:pt x="1616270" y="880145"/>
                  </a:lnTo>
                  <a:lnTo>
                    <a:pt x="0" y="880145"/>
                  </a:lnTo>
                  <a:close/>
                </a:path>
              </a:pathLst>
            </a:custGeom>
            <a:blipFill>
              <a:blip r:embed="rId2">
                <a:alphaModFix amt="70000"/>
              </a:blip>
              <a:stretch>
                <a:fillRect l="0" t="-67867" r="0" b="-1576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-4527" y="-252072"/>
            <a:ext cx="10706309" cy="10791145"/>
            <a:chOff x="0" y="0"/>
            <a:chExt cx="2448171" cy="24675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8171" cy="2467570"/>
            </a:xfrm>
            <a:custGeom>
              <a:avLst/>
              <a:gdLst/>
              <a:ahLst/>
              <a:cxnLst/>
              <a:rect r="r" b="b" t="t" l="l"/>
              <a:pathLst>
                <a:path h="2467570" w="2448171">
                  <a:moveTo>
                    <a:pt x="1224086" y="0"/>
                  </a:moveTo>
                  <a:lnTo>
                    <a:pt x="2448171" y="2467570"/>
                  </a:lnTo>
                  <a:lnTo>
                    <a:pt x="0" y="2467570"/>
                  </a:lnTo>
                  <a:lnTo>
                    <a:pt x="1224086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E9F0F3">
                    <a:alpha val="55000"/>
                  </a:srgbClr>
                </a:gs>
                <a:gs pos="100000">
                  <a:srgbClr val="A2A5AC">
                    <a:alpha val="55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382527" y="1098033"/>
              <a:ext cx="1683118" cy="1193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45109" y="3835767"/>
            <a:ext cx="13027824" cy="312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6"/>
              </a:lnSpc>
            </a:pPr>
            <a:r>
              <a:rPr lang="en-US" b="true" sz="6999" spc="-419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Wellmeadows </a:t>
            </a:r>
          </a:p>
          <a:p>
            <a:pPr algn="l">
              <a:lnSpc>
                <a:spcPts val="8196"/>
              </a:lnSpc>
            </a:pPr>
            <a:r>
              <a:rPr lang="en-US" b="true" sz="6999" spc="-419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             </a:t>
            </a:r>
            <a:r>
              <a:rPr lang="en-US" b="true" sz="6999" spc="-419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requirements</a:t>
            </a:r>
          </a:p>
          <a:p>
            <a:pPr algn="l">
              <a:lnSpc>
                <a:spcPts val="8203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8045946" y="6738584"/>
            <a:ext cx="3542550" cy="1905307"/>
          </a:xfrm>
          <a:prstGeom prst="line">
            <a:avLst/>
          </a:prstGeom>
          <a:ln cap="flat" w="200025">
            <a:gradFill>
              <a:gsLst>
                <a:gs pos="0">
                  <a:srgbClr val="6AD572">
                    <a:alpha val="100000"/>
                  </a:srgbClr>
                </a:gs>
                <a:gs pos="50000">
                  <a:srgbClr val="6AD572">
                    <a:alpha val="0"/>
                  </a:srgbClr>
                </a:gs>
                <a:gs pos="100000">
                  <a:srgbClr val="6AD572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12170144" y="8642619"/>
            <a:ext cx="5885628" cy="2351904"/>
          </a:xfrm>
          <a:prstGeom prst="line">
            <a:avLst/>
          </a:prstGeom>
          <a:ln cap="flat" w="200025">
            <a:gradFill>
              <a:gsLst>
                <a:gs pos="0">
                  <a:srgbClr val="6AD572">
                    <a:alpha val="100000"/>
                  </a:srgbClr>
                </a:gs>
                <a:gs pos="50000">
                  <a:srgbClr val="6AD572">
                    <a:alpha val="100000"/>
                  </a:srgbClr>
                </a:gs>
                <a:gs pos="100000">
                  <a:srgbClr val="65A6FE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514793" y="-949819"/>
            <a:ext cx="6455264" cy="2293346"/>
          </a:xfrm>
          <a:prstGeom prst="line">
            <a:avLst/>
          </a:prstGeom>
          <a:ln cap="flat" w="200025">
            <a:solidFill>
              <a:srgbClr val="65A6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-6657904" y="1355819"/>
            <a:ext cx="7258344" cy="1310305"/>
          </a:xfrm>
          <a:prstGeom prst="line">
            <a:avLst/>
          </a:prstGeom>
          <a:ln cap="flat" w="200025">
            <a:gradFill>
              <a:gsLst>
                <a:gs pos="0">
                  <a:srgbClr val="65A6FE">
                    <a:alpha val="100000"/>
                  </a:srgbClr>
                </a:gs>
                <a:gs pos="50000">
                  <a:srgbClr val="65A6FE">
                    <a:alpha val="0"/>
                  </a:srgbClr>
                </a:gs>
                <a:gs pos="100000">
                  <a:srgbClr val="65A6FE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5487675" y="485607"/>
            <a:ext cx="7088143" cy="213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0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Module 1 </a:t>
            </a:r>
          </a:p>
          <a:p>
            <a:pPr algn="ctr">
              <a:lnSpc>
                <a:spcPts val="5620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Staff (A-C)</a:t>
            </a:r>
          </a:p>
          <a:p>
            <a:pPr algn="l">
              <a:lnSpc>
                <a:spcPts val="5625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47217" y="2074930"/>
            <a:ext cx="4546988" cy="876329"/>
          </a:xfrm>
          <a:custGeom>
            <a:avLst/>
            <a:gdLst/>
            <a:ahLst/>
            <a:cxnLst/>
            <a:rect r="r" b="b" t="t" l="l"/>
            <a:pathLst>
              <a:path h="876329" w="4546988">
                <a:moveTo>
                  <a:pt x="0" y="0"/>
                </a:moveTo>
                <a:lnTo>
                  <a:pt x="4546989" y="0"/>
                </a:lnTo>
                <a:lnTo>
                  <a:pt x="4546989" y="876329"/>
                </a:lnTo>
                <a:lnTo>
                  <a:pt x="0" y="876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18106" y="2855783"/>
            <a:ext cx="4546988" cy="876329"/>
          </a:xfrm>
          <a:custGeom>
            <a:avLst/>
            <a:gdLst/>
            <a:ahLst/>
            <a:cxnLst/>
            <a:rect r="r" b="b" t="t" l="l"/>
            <a:pathLst>
              <a:path h="876329" w="4546988">
                <a:moveTo>
                  <a:pt x="0" y="0"/>
                </a:moveTo>
                <a:lnTo>
                  <a:pt x="4546988" y="0"/>
                </a:lnTo>
                <a:lnTo>
                  <a:pt x="4546988" y="876328"/>
                </a:lnTo>
                <a:lnTo>
                  <a:pt x="0" y="8763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722396" y="1979454"/>
            <a:ext cx="4546988" cy="876329"/>
          </a:xfrm>
          <a:custGeom>
            <a:avLst/>
            <a:gdLst/>
            <a:ahLst/>
            <a:cxnLst/>
            <a:rect r="r" b="b" t="t" l="l"/>
            <a:pathLst>
              <a:path h="876329" w="4546988">
                <a:moveTo>
                  <a:pt x="0" y="0"/>
                </a:moveTo>
                <a:lnTo>
                  <a:pt x="4546988" y="0"/>
                </a:lnTo>
                <a:lnTo>
                  <a:pt x="4546988" y="876329"/>
                </a:lnTo>
                <a:lnTo>
                  <a:pt x="0" y="876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13193" y="4181773"/>
            <a:ext cx="6711719" cy="3867707"/>
          </a:xfrm>
          <a:custGeom>
            <a:avLst/>
            <a:gdLst/>
            <a:ahLst/>
            <a:cxnLst/>
            <a:rect r="r" b="b" t="t" l="l"/>
            <a:pathLst>
              <a:path h="3867707" w="6711719">
                <a:moveTo>
                  <a:pt x="0" y="0"/>
                </a:moveTo>
                <a:lnTo>
                  <a:pt x="6711720" y="0"/>
                </a:lnTo>
                <a:lnTo>
                  <a:pt x="6711720" y="3867707"/>
                </a:lnTo>
                <a:lnTo>
                  <a:pt x="0" y="38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9865" y="3732111"/>
            <a:ext cx="6613916" cy="4736148"/>
          </a:xfrm>
          <a:custGeom>
            <a:avLst/>
            <a:gdLst/>
            <a:ahLst/>
            <a:cxnLst/>
            <a:rect r="r" b="b" t="t" l="l"/>
            <a:pathLst>
              <a:path h="4736148" w="6613916">
                <a:moveTo>
                  <a:pt x="0" y="0"/>
                </a:moveTo>
                <a:lnTo>
                  <a:pt x="6613915" y="0"/>
                </a:lnTo>
                <a:lnTo>
                  <a:pt x="6613915" y="4736148"/>
                </a:lnTo>
                <a:lnTo>
                  <a:pt x="0" y="4736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912738" y="8114125"/>
            <a:ext cx="5941618" cy="3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แผนภาพแสดงความสัมพันธ์เชิงเอนทิตี (ER-Diagram)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6014" y="8417866"/>
            <a:ext cx="5941618" cy="894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แผนภาพความสัมพันธ์เชิงสัมพันธ์ (Relational Schema Diagram หรือ Relational Model Diagram)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45165" y="2351699"/>
            <a:ext cx="3363316" cy="3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การสร้างและบันทึกข้อมูล staff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6223" y="2167732"/>
            <a:ext cx="634198" cy="65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3"/>
              </a:lnSpc>
            </a:pPr>
            <a:r>
              <a:rPr lang="en-US" sz="4399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16053" y="2992122"/>
            <a:ext cx="3363316" cy="89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การค้นหา staff ด้วยวุฒิการศึกษาและประสบการณ์</a:t>
            </a:r>
          </a:p>
          <a:p>
            <a:pPr algn="l">
              <a:lnSpc>
                <a:spcPts val="2333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769053" y="2256222"/>
            <a:ext cx="3766347" cy="3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สามารถเพิ่ม staff เข้า ward ได้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77111" y="2970309"/>
            <a:ext cx="634198" cy="65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3"/>
              </a:lnSpc>
            </a:pPr>
            <a:r>
              <a:rPr lang="en-US" sz="4399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B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90926" y="2084455"/>
            <a:ext cx="634198" cy="65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3"/>
              </a:lnSpc>
            </a:pPr>
            <a:r>
              <a:rPr lang="en-US" sz="4399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554343" y="7980890"/>
            <a:ext cx="18880443" cy="2306110"/>
            <a:chOff x="0" y="0"/>
            <a:chExt cx="4972627" cy="6073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2627" cy="607370"/>
            </a:xfrm>
            <a:custGeom>
              <a:avLst/>
              <a:gdLst/>
              <a:ahLst/>
              <a:cxnLst/>
              <a:rect r="r" b="b" t="t" l="l"/>
              <a:pathLst>
                <a:path h="607370" w="4972627">
                  <a:moveTo>
                    <a:pt x="0" y="0"/>
                  </a:moveTo>
                  <a:lnTo>
                    <a:pt x="4972627" y="0"/>
                  </a:lnTo>
                  <a:lnTo>
                    <a:pt x="4972627" y="607370"/>
                  </a:lnTo>
                  <a:lnTo>
                    <a:pt x="0" y="607370"/>
                  </a:lnTo>
                  <a:close/>
                </a:path>
              </a:pathLst>
            </a:custGeom>
            <a:gradFill rotWithShape="true">
              <a:gsLst>
                <a:gs pos="0">
                  <a:srgbClr val="65A6FE">
                    <a:alpha val="63000"/>
                  </a:srgbClr>
                </a:gs>
                <a:gs pos="100000">
                  <a:srgbClr val="65A6F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72627" cy="654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75819" y="8332833"/>
            <a:ext cx="4940637" cy="1293549"/>
          </a:xfrm>
          <a:custGeom>
            <a:avLst/>
            <a:gdLst/>
            <a:ahLst/>
            <a:cxnLst/>
            <a:rect r="r" b="b" t="t" l="l"/>
            <a:pathLst>
              <a:path h="1293549" w="4940637">
                <a:moveTo>
                  <a:pt x="0" y="0"/>
                </a:moveTo>
                <a:lnTo>
                  <a:pt x="4940637" y="0"/>
                </a:lnTo>
                <a:lnTo>
                  <a:pt x="4940637" y="1293548"/>
                </a:lnTo>
                <a:lnTo>
                  <a:pt x="0" y="1293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88356" y="8466736"/>
            <a:ext cx="4315563" cy="660102"/>
            <a:chOff x="0" y="0"/>
            <a:chExt cx="2888979" cy="4418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8979" cy="441894"/>
            </a:xfrm>
            <a:custGeom>
              <a:avLst/>
              <a:gdLst/>
              <a:ahLst/>
              <a:cxnLst/>
              <a:rect r="r" b="b" t="t" l="l"/>
              <a:pathLst>
                <a:path h="441894" w="2888979">
                  <a:moveTo>
                    <a:pt x="91492" y="0"/>
                  </a:moveTo>
                  <a:lnTo>
                    <a:pt x="2797487" y="0"/>
                  </a:lnTo>
                  <a:cubicBezTo>
                    <a:pt x="2821752" y="0"/>
                    <a:pt x="2845023" y="9639"/>
                    <a:pt x="2862181" y="26797"/>
                  </a:cubicBezTo>
                  <a:cubicBezTo>
                    <a:pt x="2879339" y="43955"/>
                    <a:pt x="2888979" y="67227"/>
                    <a:pt x="2888979" y="91492"/>
                  </a:cubicBezTo>
                  <a:lnTo>
                    <a:pt x="2888979" y="350402"/>
                  </a:lnTo>
                  <a:cubicBezTo>
                    <a:pt x="2888979" y="374668"/>
                    <a:pt x="2879339" y="397939"/>
                    <a:pt x="2862181" y="415097"/>
                  </a:cubicBezTo>
                  <a:cubicBezTo>
                    <a:pt x="2845023" y="432255"/>
                    <a:pt x="2821752" y="441894"/>
                    <a:pt x="2797487" y="441894"/>
                  </a:cubicBezTo>
                  <a:lnTo>
                    <a:pt x="91492" y="441894"/>
                  </a:lnTo>
                  <a:cubicBezTo>
                    <a:pt x="67227" y="441894"/>
                    <a:pt x="43955" y="432255"/>
                    <a:pt x="26797" y="415097"/>
                  </a:cubicBezTo>
                  <a:cubicBezTo>
                    <a:pt x="9639" y="397939"/>
                    <a:pt x="0" y="374668"/>
                    <a:pt x="0" y="350402"/>
                  </a:cubicBezTo>
                  <a:lnTo>
                    <a:pt x="0" y="91492"/>
                  </a:lnTo>
                  <a:cubicBezTo>
                    <a:pt x="0" y="67227"/>
                    <a:pt x="9639" y="43955"/>
                    <a:pt x="26797" y="26797"/>
                  </a:cubicBezTo>
                  <a:cubicBezTo>
                    <a:pt x="43955" y="9639"/>
                    <a:pt x="67227" y="0"/>
                    <a:pt x="91492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888979" cy="48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88356" y="8395705"/>
            <a:ext cx="4315563" cy="660102"/>
            <a:chOff x="0" y="0"/>
            <a:chExt cx="2888979" cy="4418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88979" cy="441894"/>
            </a:xfrm>
            <a:custGeom>
              <a:avLst/>
              <a:gdLst/>
              <a:ahLst/>
              <a:cxnLst/>
              <a:rect r="r" b="b" t="t" l="l"/>
              <a:pathLst>
                <a:path h="441894" w="2888979">
                  <a:moveTo>
                    <a:pt x="91492" y="0"/>
                  </a:moveTo>
                  <a:lnTo>
                    <a:pt x="2797487" y="0"/>
                  </a:lnTo>
                  <a:cubicBezTo>
                    <a:pt x="2821752" y="0"/>
                    <a:pt x="2845023" y="9639"/>
                    <a:pt x="2862181" y="26797"/>
                  </a:cubicBezTo>
                  <a:cubicBezTo>
                    <a:pt x="2879339" y="43955"/>
                    <a:pt x="2888979" y="67227"/>
                    <a:pt x="2888979" y="91492"/>
                  </a:cubicBezTo>
                  <a:lnTo>
                    <a:pt x="2888979" y="350402"/>
                  </a:lnTo>
                  <a:cubicBezTo>
                    <a:pt x="2888979" y="374668"/>
                    <a:pt x="2879339" y="397939"/>
                    <a:pt x="2862181" y="415097"/>
                  </a:cubicBezTo>
                  <a:cubicBezTo>
                    <a:pt x="2845023" y="432255"/>
                    <a:pt x="2821752" y="441894"/>
                    <a:pt x="2797487" y="441894"/>
                  </a:cubicBezTo>
                  <a:lnTo>
                    <a:pt x="91492" y="441894"/>
                  </a:lnTo>
                  <a:cubicBezTo>
                    <a:pt x="67227" y="441894"/>
                    <a:pt x="43955" y="432255"/>
                    <a:pt x="26797" y="415097"/>
                  </a:cubicBezTo>
                  <a:cubicBezTo>
                    <a:pt x="9639" y="397939"/>
                    <a:pt x="0" y="374668"/>
                    <a:pt x="0" y="350402"/>
                  </a:cubicBezTo>
                  <a:lnTo>
                    <a:pt x="0" y="91492"/>
                  </a:lnTo>
                  <a:cubicBezTo>
                    <a:pt x="0" y="67227"/>
                    <a:pt x="9639" y="43955"/>
                    <a:pt x="26797" y="26797"/>
                  </a:cubicBezTo>
                  <a:cubicBezTo>
                    <a:pt x="43955" y="9639"/>
                    <a:pt x="67227" y="0"/>
                    <a:pt x="91492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888979" cy="48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94597" y="8560069"/>
            <a:ext cx="615534" cy="331374"/>
            <a:chOff x="0" y="0"/>
            <a:chExt cx="412059" cy="2218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2059" cy="221832"/>
            </a:xfrm>
            <a:custGeom>
              <a:avLst/>
              <a:gdLst/>
              <a:ahLst/>
              <a:cxnLst/>
              <a:rect r="r" b="b" t="t" l="l"/>
              <a:pathLst>
                <a:path h="221832" w="412059">
                  <a:moveTo>
                    <a:pt x="110916" y="0"/>
                  </a:moveTo>
                  <a:lnTo>
                    <a:pt x="301142" y="0"/>
                  </a:lnTo>
                  <a:cubicBezTo>
                    <a:pt x="330559" y="0"/>
                    <a:pt x="358771" y="11686"/>
                    <a:pt x="379572" y="32487"/>
                  </a:cubicBezTo>
                  <a:cubicBezTo>
                    <a:pt x="400373" y="53287"/>
                    <a:pt x="412059" y="81499"/>
                    <a:pt x="412059" y="110916"/>
                  </a:cubicBezTo>
                  <a:lnTo>
                    <a:pt x="412059" y="110916"/>
                  </a:lnTo>
                  <a:cubicBezTo>
                    <a:pt x="412059" y="172173"/>
                    <a:pt x="362400" y="221832"/>
                    <a:pt x="301142" y="221832"/>
                  </a:cubicBezTo>
                  <a:lnTo>
                    <a:pt x="110916" y="221832"/>
                  </a:lnTo>
                  <a:cubicBezTo>
                    <a:pt x="81499" y="221832"/>
                    <a:pt x="53287" y="210147"/>
                    <a:pt x="32487" y="189346"/>
                  </a:cubicBezTo>
                  <a:cubicBezTo>
                    <a:pt x="11686" y="168545"/>
                    <a:pt x="0" y="140333"/>
                    <a:pt x="0" y="110916"/>
                  </a:cubicBezTo>
                  <a:lnTo>
                    <a:pt x="0" y="110916"/>
                  </a:lnTo>
                  <a:cubicBezTo>
                    <a:pt x="0" y="81499"/>
                    <a:pt x="11686" y="53287"/>
                    <a:pt x="32487" y="32487"/>
                  </a:cubicBezTo>
                  <a:cubicBezTo>
                    <a:pt x="53287" y="11686"/>
                    <a:pt x="81499" y="0"/>
                    <a:pt x="110916" y="0"/>
                  </a:cubicBezTo>
                  <a:close/>
                </a:path>
              </a:pathLst>
            </a:custGeom>
            <a:solidFill>
              <a:srgbClr val="6AD57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12059" cy="269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17307" y="8594817"/>
            <a:ext cx="253964" cy="25396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6673681" y="8269960"/>
            <a:ext cx="4940637" cy="1293549"/>
          </a:xfrm>
          <a:custGeom>
            <a:avLst/>
            <a:gdLst/>
            <a:ahLst/>
            <a:cxnLst/>
            <a:rect r="r" b="b" t="t" l="l"/>
            <a:pathLst>
              <a:path h="1293549" w="4940637">
                <a:moveTo>
                  <a:pt x="0" y="0"/>
                </a:moveTo>
                <a:lnTo>
                  <a:pt x="4940638" y="0"/>
                </a:lnTo>
                <a:lnTo>
                  <a:pt x="4940638" y="1293549"/>
                </a:lnTo>
                <a:lnTo>
                  <a:pt x="0" y="1293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6986218" y="8403864"/>
            <a:ext cx="4315563" cy="660102"/>
            <a:chOff x="0" y="0"/>
            <a:chExt cx="2888979" cy="4418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88979" cy="441894"/>
            </a:xfrm>
            <a:custGeom>
              <a:avLst/>
              <a:gdLst/>
              <a:ahLst/>
              <a:cxnLst/>
              <a:rect r="r" b="b" t="t" l="l"/>
              <a:pathLst>
                <a:path h="441894" w="2888979">
                  <a:moveTo>
                    <a:pt x="91492" y="0"/>
                  </a:moveTo>
                  <a:lnTo>
                    <a:pt x="2797487" y="0"/>
                  </a:lnTo>
                  <a:cubicBezTo>
                    <a:pt x="2821752" y="0"/>
                    <a:pt x="2845023" y="9639"/>
                    <a:pt x="2862181" y="26797"/>
                  </a:cubicBezTo>
                  <a:cubicBezTo>
                    <a:pt x="2879339" y="43955"/>
                    <a:pt x="2888979" y="67227"/>
                    <a:pt x="2888979" y="91492"/>
                  </a:cubicBezTo>
                  <a:lnTo>
                    <a:pt x="2888979" y="350402"/>
                  </a:lnTo>
                  <a:cubicBezTo>
                    <a:pt x="2888979" y="374668"/>
                    <a:pt x="2879339" y="397939"/>
                    <a:pt x="2862181" y="415097"/>
                  </a:cubicBezTo>
                  <a:cubicBezTo>
                    <a:pt x="2845023" y="432255"/>
                    <a:pt x="2821752" y="441894"/>
                    <a:pt x="2797487" y="441894"/>
                  </a:cubicBezTo>
                  <a:lnTo>
                    <a:pt x="91492" y="441894"/>
                  </a:lnTo>
                  <a:cubicBezTo>
                    <a:pt x="67227" y="441894"/>
                    <a:pt x="43955" y="432255"/>
                    <a:pt x="26797" y="415097"/>
                  </a:cubicBezTo>
                  <a:cubicBezTo>
                    <a:pt x="9639" y="397939"/>
                    <a:pt x="0" y="374668"/>
                    <a:pt x="0" y="350402"/>
                  </a:cubicBezTo>
                  <a:lnTo>
                    <a:pt x="0" y="91492"/>
                  </a:lnTo>
                  <a:cubicBezTo>
                    <a:pt x="0" y="67227"/>
                    <a:pt x="9639" y="43955"/>
                    <a:pt x="26797" y="26797"/>
                  </a:cubicBezTo>
                  <a:cubicBezTo>
                    <a:pt x="43955" y="9639"/>
                    <a:pt x="67227" y="0"/>
                    <a:pt x="91492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888979" cy="48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986218" y="8332833"/>
            <a:ext cx="4315563" cy="660102"/>
            <a:chOff x="0" y="0"/>
            <a:chExt cx="2888979" cy="4418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88979" cy="441894"/>
            </a:xfrm>
            <a:custGeom>
              <a:avLst/>
              <a:gdLst/>
              <a:ahLst/>
              <a:cxnLst/>
              <a:rect r="r" b="b" t="t" l="l"/>
              <a:pathLst>
                <a:path h="441894" w="2888979">
                  <a:moveTo>
                    <a:pt x="91492" y="0"/>
                  </a:moveTo>
                  <a:lnTo>
                    <a:pt x="2797487" y="0"/>
                  </a:lnTo>
                  <a:cubicBezTo>
                    <a:pt x="2821752" y="0"/>
                    <a:pt x="2845023" y="9639"/>
                    <a:pt x="2862181" y="26797"/>
                  </a:cubicBezTo>
                  <a:cubicBezTo>
                    <a:pt x="2879339" y="43955"/>
                    <a:pt x="2888979" y="67227"/>
                    <a:pt x="2888979" y="91492"/>
                  </a:cubicBezTo>
                  <a:lnTo>
                    <a:pt x="2888979" y="350402"/>
                  </a:lnTo>
                  <a:cubicBezTo>
                    <a:pt x="2888979" y="374668"/>
                    <a:pt x="2879339" y="397939"/>
                    <a:pt x="2862181" y="415097"/>
                  </a:cubicBezTo>
                  <a:cubicBezTo>
                    <a:pt x="2845023" y="432255"/>
                    <a:pt x="2821752" y="441894"/>
                    <a:pt x="2797487" y="441894"/>
                  </a:cubicBezTo>
                  <a:lnTo>
                    <a:pt x="91492" y="441894"/>
                  </a:lnTo>
                  <a:cubicBezTo>
                    <a:pt x="67227" y="441894"/>
                    <a:pt x="43955" y="432255"/>
                    <a:pt x="26797" y="415097"/>
                  </a:cubicBezTo>
                  <a:cubicBezTo>
                    <a:pt x="9639" y="397939"/>
                    <a:pt x="0" y="374668"/>
                    <a:pt x="0" y="350402"/>
                  </a:cubicBezTo>
                  <a:lnTo>
                    <a:pt x="0" y="91492"/>
                  </a:lnTo>
                  <a:cubicBezTo>
                    <a:pt x="0" y="67227"/>
                    <a:pt x="9639" y="43955"/>
                    <a:pt x="26797" y="26797"/>
                  </a:cubicBezTo>
                  <a:cubicBezTo>
                    <a:pt x="43955" y="9639"/>
                    <a:pt x="67227" y="0"/>
                    <a:pt x="91492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888979" cy="48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192460" y="8497197"/>
            <a:ext cx="615534" cy="331374"/>
            <a:chOff x="0" y="0"/>
            <a:chExt cx="412059" cy="2218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2059" cy="221832"/>
            </a:xfrm>
            <a:custGeom>
              <a:avLst/>
              <a:gdLst/>
              <a:ahLst/>
              <a:cxnLst/>
              <a:rect r="r" b="b" t="t" l="l"/>
              <a:pathLst>
                <a:path h="221832" w="412059">
                  <a:moveTo>
                    <a:pt x="110916" y="0"/>
                  </a:moveTo>
                  <a:lnTo>
                    <a:pt x="301142" y="0"/>
                  </a:lnTo>
                  <a:cubicBezTo>
                    <a:pt x="330559" y="0"/>
                    <a:pt x="358771" y="11686"/>
                    <a:pt x="379572" y="32487"/>
                  </a:cubicBezTo>
                  <a:cubicBezTo>
                    <a:pt x="400373" y="53287"/>
                    <a:pt x="412059" y="81499"/>
                    <a:pt x="412059" y="110916"/>
                  </a:cubicBezTo>
                  <a:lnTo>
                    <a:pt x="412059" y="110916"/>
                  </a:lnTo>
                  <a:cubicBezTo>
                    <a:pt x="412059" y="172173"/>
                    <a:pt x="362400" y="221832"/>
                    <a:pt x="301142" y="221832"/>
                  </a:cubicBezTo>
                  <a:lnTo>
                    <a:pt x="110916" y="221832"/>
                  </a:lnTo>
                  <a:cubicBezTo>
                    <a:pt x="81499" y="221832"/>
                    <a:pt x="53287" y="210147"/>
                    <a:pt x="32487" y="189346"/>
                  </a:cubicBezTo>
                  <a:cubicBezTo>
                    <a:pt x="11686" y="168545"/>
                    <a:pt x="0" y="140333"/>
                    <a:pt x="0" y="110916"/>
                  </a:cubicBezTo>
                  <a:lnTo>
                    <a:pt x="0" y="110916"/>
                  </a:lnTo>
                  <a:cubicBezTo>
                    <a:pt x="0" y="81499"/>
                    <a:pt x="11686" y="53287"/>
                    <a:pt x="32487" y="32487"/>
                  </a:cubicBezTo>
                  <a:cubicBezTo>
                    <a:pt x="53287" y="11686"/>
                    <a:pt x="81499" y="0"/>
                    <a:pt x="110916" y="0"/>
                  </a:cubicBezTo>
                  <a:close/>
                </a:path>
              </a:pathLst>
            </a:custGeom>
            <a:solidFill>
              <a:srgbClr val="6AD57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412059" cy="269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1957218" y="8207088"/>
            <a:ext cx="4940637" cy="1293549"/>
          </a:xfrm>
          <a:custGeom>
            <a:avLst/>
            <a:gdLst/>
            <a:ahLst/>
            <a:cxnLst/>
            <a:rect r="r" b="b" t="t" l="l"/>
            <a:pathLst>
              <a:path h="1293549" w="4940637">
                <a:moveTo>
                  <a:pt x="0" y="0"/>
                </a:moveTo>
                <a:lnTo>
                  <a:pt x="4940638" y="0"/>
                </a:lnTo>
                <a:lnTo>
                  <a:pt x="4940638" y="1293549"/>
                </a:lnTo>
                <a:lnTo>
                  <a:pt x="0" y="1293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2269756" y="8340991"/>
            <a:ext cx="4315563" cy="660102"/>
            <a:chOff x="0" y="0"/>
            <a:chExt cx="2888979" cy="44189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88979" cy="441894"/>
            </a:xfrm>
            <a:custGeom>
              <a:avLst/>
              <a:gdLst/>
              <a:ahLst/>
              <a:cxnLst/>
              <a:rect r="r" b="b" t="t" l="l"/>
              <a:pathLst>
                <a:path h="441894" w="2888979">
                  <a:moveTo>
                    <a:pt x="91492" y="0"/>
                  </a:moveTo>
                  <a:lnTo>
                    <a:pt x="2797487" y="0"/>
                  </a:lnTo>
                  <a:cubicBezTo>
                    <a:pt x="2821752" y="0"/>
                    <a:pt x="2845023" y="9639"/>
                    <a:pt x="2862181" y="26797"/>
                  </a:cubicBezTo>
                  <a:cubicBezTo>
                    <a:pt x="2879339" y="43955"/>
                    <a:pt x="2888979" y="67227"/>
                    <a:pt x="2888979" y="91492"/>
                  </a:cubicBezTo>
                  <a:lnTo>
                    <a:pt x="2888979" y="350402"/>
                  </a:lnTo>
                  <a:cubicBezTo>
                    <a:pt x="2888979" y="374668"/>
                    <a:pt x="2879339" y="397939"/>
                    <a:pt x="2862181" y="415097"/>
                  </a:cubicBezTo>
                  <a:cubicBezTo>
                    <a:pt x="2845023" y="432255"/>
                    <a:pt x="2821752" y="441894"/>
                    <a:pt x="2797487" y="441894"/>
                  </a:cubicBezTo>
                  <a:lnTo>
                    <a:pt x="91492" y="441894"/>
                  </a:lnTo>
                  <a:cubicBezTo>
                    <a:pt x="67227" y="441894"/>
                    <a:pt x="43955" y="432255"/>
                    <a:pt x="26797" y="415097"/>
                  </a:cubicBezTo>
                  <a:cubicBezTo>
                    <a:pt x="9639" y="397939"/>
                    <a:pt x="0" y="374668"/>
                    <a:pt x="0" y="350402"/>
                  </a:cubicBezTo>
                  <a:lnTo>
                    <a:pt x="0" y="91492"/>
                  </a:lnTo>
                  <a:cubicBezTo>
                    <a:pt x="0" y="67227"/>
                    <a:pt x="9639" y="43955"/>
                    <a:pt x="26797" y="26797"/>
                  </a:cubicBezTo>
                  <a:cubicBezTo>
                    <a:pt x="43955" y="9639"/>
                    <a:pt x="67227" y="0"/>
                    <a:pt x="91492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888979" cy="48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69756" y="8269960"/>
            <a:ext cx="4315563" cy="660102"/>
            <a:chOff x="0" y="0"/>
            <a:chExt cx="2888979" cy="44189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888979" cy="441894"/>
            </a:xfrm>
            <a:custGeom>
              <a:avLst/>
              <a:gdLst/>
              <a:ahLst/>
              <a:cxnLst/>
              <a:rect r="r" b="b" t="t" l="l"/>
              <a:pathLst>
                <a:path h="441894" w="2888979">
                  <a:moveTo>
                    <a:pt x="91492" y="0"/>
                  </a:moveTo>
                  <a:lnTo>
                    <a:pt x="2797487" y="0"/>
                  </a:lnTo>
                  <a:cubicBezTo>
                    <a:pt x="2821752" y="0"/>
                    <a:pt x="2845023" y="9639"/>
                    <a:pt x="2862181" y="26797"/>
                  </a:cubicBezTo>
                  <a:cubicBezTo>
                    <a:pt x="2879339" y="43955"/>
                    <a:pt x="2888979" y="67227"/>
                    <a:pt x="2888979" y="91492"/>
                  </a:cubicBezTo>
                  <a:lnTo>
                    <a:pt x="2888979" y="350402"/>
                  </a:lnTo>
                  <a:cubicBezTo>
                    <a:pt x="2888979" y="374668"/>
                    <a:pt x="2879339" y="397939"/>
                    <a:pt x="2862181" y="415097"/>
                  </a:cubicBezTo>
                  <a:cubicBezTo>
                    <a:pt x="2845023" y="432255"/>
                    <a:pt x="2821752" y="441894"/>
                    <a:pt x="2797487" y="441894"/>
                  </a:cubicBezTo>
                  <a:lnTo>
                    <a:pt x="91492" y="441894"/>
                  </a:lnTo>
                  <a:cubicBezTo>
                    <a:pt x="67227" y="441894"/>
                    <a:pt x="43955" y="432255"/>
                    <a:pt x="26797" y="415097"/>
                  </a:cubicBezTo>
                  <a:cubicBezTo>
                    <a:pt x="9639" y="397939"/>
                    <a:pt x="0" y="374668"/>
                    <a:pt x="0" y="350402"/>
                  </a:cubicBezTo>
                  <a:lnTo>
                    <a:pt x="0" y="91492"/>
                  </a:lnTo>
                  <a:cubicBezTo>
                    <a:pt x="0" y="67227"/>
                    <a:pt x="9639" y="43955"/>
                    <a:pt x="26797" y="26797"/>
                  </a:cubicBezTo>
                  <a:cubicBezTo>
                    <a:pt x="43955" y="9639"/>
                    <a:pt x="67227" y="0"/>
                    <a:pt x="91492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888979" cy="48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475997" y="8434325"/>
            <a:ext cx="615534" cy="331374"/>
            <a:chOff x="0" y="0"/>
            <a:chExt cx="412059" cy="2218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2059" cy="221832"/>
            </a:xfrm>
            <a:custGeom>
              <a:avLst/>
              <a:gdLst/>
              <a:ahLst/>
              <a:cxnLst/>
              <a:rect r="r" b="b" t="t" l="l"/>
              <a:pathLst>
                <a:path h="221832" w="412059">
                  <a:moveTo>
                    <a:pt x="110916" y="0"/>
                  </a:moveTo>
                  <a:lnTo>
                    <a:pt x="301142" y="0"/>
                  </a:lnTo>
                  <a:cubicBezTo>
                    <a:pt x="330559" y="0"/>
                    <a:pt x="358771" y="11686"/>
                    <a:pt x="379572" y="32487"/>
                  </a:cubicBezTo>
                  <a:cubicBezTo>
                    <a:pt x="400373" y="53287"/>
                    <a:pt x="412059" y="81499"/>
                    <a:pt x="412059" y="110916"/>
                  </a:cubicBezTo>
                  <a:lnTo>
                    <a:pt x="412059" y="110916"/>
                  </a:lnTo>
                  <a:cubicBezTo>
                    <a:pt x="412059" y="172173"/>
                    <a:pt x="362400" y="221832"/>
                    <a:pt x="301142" y="221832"/>
                  </a:cubicBezTo>
                  <a:lnTo>
                    <a:pt x="110916" y="221832"/>
                  </a:lnTo>
                  <a:cubicBezTo>
                    <a:pt x="81499" y="221832"/>
                    <a:pt x="53287" y="210147"/>
                    <a:pt x="32487" y="189346"/>
                  </a:cubicBezTo>
                  <a:cubicBezTo>
                    <a:pt x="11686" y="168545"/>
                    <a:pt x="0" y="140333"/>
                    <a:pt x="0" y="110916"/>
                  </a:cubicBezTo>
                  <a:lnTo>
                    <a:pt x="0" y="110916"/>
                  </a:lnTo>
                  <a:cubicBezTo>
                    <a:pt x="0" y="81499"/>
                    <a:pt x="11686" y="53287"/>
                    <a:pt x="32487" y="32487"/>
                  </a:cubicBezTo>
                  <a:cubicBezTo>
                    <a:pt x="53287" y="11686"/>
                    <a:pt x="81499" y="0"/>
                    <a:pt x="110916" y="0"/>
                  </a:cubicBezTo>
                  <a:close/>
                </a:path>
              </a:pathLst>
            </a:custGeom>
            <a:solidFill>
              <a:srgbClr val="6AD57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412059" cy="269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3625681" y="9203038"/>
            <a:ext cx="4940637" cy="1293549"/>
          </a:xfrm>
          <a:custGeom>
            <a:avLst/>
            <a:gdLst/>
            <a:ahLst/>
            <a:cxnLst/>
            <a:rect r="r" b="b" t="t" l="l"/>
            <a:pathLst>
              <a:path h="1293549" w="4940637">
                <a:moveTo>
                  <a:pt x="0" y="0"/>
                </a:moveTo>
                <a:lnTo>
                  <a:pt x="4940638" y="0"/>
                </a:lnTo>
                <a:lnTo>
                  <a:pt x="4940638" y="1293549"/>
                </a:lnTo>
                <a:lnTo>
                  <a:pt x="0" y="1293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3938218" y="9336942"/>
            <a:ext cx="4315563" cy="660102"/>
            <a:chOff x="0" y="0"/>
            <a:chExt cx="2888979" cy="44189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888979" cy="441894"/>
            </a:xfrm>
            <a:custGeom>
              <a:avLst/>
              <a:gdLst/>
              <a:ahLst/>
              <a:cxnLst/>
              <a:rect r="r" b="b" t="t" l="l"/>
              <a:pathLst>
                <a:path h="441894" w="2888979">
                  <a:moveTo>
                    <a:pt x="91492" y="0"/>
                  </a:moveTo>
                  <a:lnTo>
                    <a:pt x="2797487" y="0"/>
                  </a:lnTo>
                  <a:cubicBezTo>
                    <a:pt x="2821752" y="0"/>
                    <a:pt x="2845023" y="9639"/>
                    <a:pt x="2862181" y="26797"/>
                  </a:cubicBezTo>
                  <a:cubicBezTo>
                    <a:pt x="2879339" y="43955"/>
                    <a:pt x="2888979" y="67227"/>
                    <a:pt x="2888979" y="91492"/>
                  </a:cubicBezTo>
                  <a:lnTo>
                    <a:pt x="2888979" y="350402"/>
                  </a:lnTo>
                  <a:cubicBezTo>
                    <a:pt x="2888979" y="374668"/>
                    <a:pt x="2879339" y="397939"/>
                    <a:pt x="2862181" y="415097"/>
                  </a:cubicBezTo>
                  <a:cubicBezTo>
                    <a:pt x="2845023" y="432255"/>
                    <a:pt x="2821752" y="441894"/>
                    <a:pt x="2797487" y="441894"/>
                  </a:cubicBezTo>
                  <a:lnTo>
                    <a:pt x="91492" y="441894"/>
                  </a:lnTo>
                  <a:cubicBezTo>
                    <a:pt x="67227" y="441894"/>
                    <a:pt x="43955" y="432255"/>
                    <a:pt x="26797" y="415097"/>
                  </a:cubicBezTo>
                  <a:cubicBezTo>
                    <a:pt x="9639" y="397939"/>
                    <a:pt x="0" y="374668"/>
                    <a:pt x="0" y="350402"/>
                  </a:cubicBezTo>
                  <a:lnTo>
                    <a:pt x="0" y="91492"/>
                  </a:lnTo>
                  <a:cubicBezTo>
                    <a:pt x="0" y="67227"/>
                    <a:pt x="9639" y="43955"/>
                    <a:pt x="26797" y="26797"/>
                  </a:cubicBezTo>
                  <a:cubicBezTo>
                    <a:pt x="43955" y="9639"/>
                    <a:pt x="67227" y="0"/>
                    <a:pt x="91492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2888979" cy="48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938218" y="9265911"/>
            <a:ext cx="4315563" cy="660102"/>
            <a:chOff x="0" y="0"/>
            <a:chExt cx="2888979" cy="44189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888979" cy="441894"/>
            </a:xfrm>
            <a:custGeom>
              <a:avLst/>
              <a:gdLst/>
              <a:ahLst/>
              <a:cxnLst/>
              <a:rect r="r" b="b" t="t" l="l"/>
              <a:pathLst>
                <a:path h="441894" w="2888979">
                  <a:moveTo>
                    <a:pt x="91492" y="0"/>
                  </a:moveTo>
                  <a:lnTo>
                    <a:pt x="2797487" y="0"/>
                  </a:lnTo>
                  <a:cubicBezTo>
                    <a:pt x="2821752" y="0"/>
                    <a:pt x="2845023" y="9639"/>
                    <a:pt x="2862181" y="26797"/>
                  </a:cubicBezTo>
                  <a:cubicBezTo>
                    <a:pt x="2879339" y="43955"/>
                    <a:pt x="2888979" y="67227"/>
                    <a:pt x="2888979" y="91492"/>
                  </a:cubicBezTo>
                  <a:lnTo>
                    <a:pt x="2888979" y="350402"/>
                  </a:lnTo>
                  <a:cubicBezTo>
                    <a:pt x="2888979" y="374668"/>
                    <a:pt x="2879339" y="397939"/>
                    <a:pt x="2862181" y="415097"/>
                  </a:cubicBezTo>
                  <a:cubicBezTo>
                    <a:pt x="2845023" y="432255"/>
                    <a:pt x="2821752" y="441894"/>
                    <a:pt x="2797487" y="441894"/>
                  </a:cubicBezTo>
                  <a:lnTo>
                    <a:pt x="91492" y="441894"/>
                  </a:lnTo>
                  <a:cubicBezTo>
                    <a:pt x="67227" y="441894"/>
                    <a:pt x="43955" y="432255"/>
                    <a:pt x="26797" y="415097"/>
                  </a:cubicBezTo>
                  <a:cubicBezTo>
                    <a:pt x="9639" y="397939"/>
                    <a:pt x="0" y="374668"/>
                    <a:pt x="0" y="350402"/>
                  </a:cubicBezTo>
                  <a:lnTo>
                    <a:pt x="0" y="91492"/>
                  </a:lnTo>
                  <a:cubicBezTo>
                    <a:pt x="0" y="67227"/>
                    <a:pt x="9639" y="43955"/>
                    <a:pt x="26797" y="26797"/>
                  </a:cubicBezTo>
                  <a:cubicBezTo>
                    <a:pt x="43955" y="9639"/>
                    <a:pt x="67227" y="0"/>
                    <a:pt x="91492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888979" cy="48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144460" y="9430275"/>
            <a:ext cx="615534" cy="331374"/>
            <a:chOff x="0" y="0"/>
            <a:chExt cx="412059" cy="22183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12059" cy="221832"/>
            </a:xfrm>
            <a:custGeom>
              <a:avLst/>
              <a:gdLst/>
              <a:ahLst/>
              <a:cxnLst/>
              <a:rect r="r" b="b" t="t" l="l"/>
              <a:pathLst>
                <a:path h="221832" w="412059">
                  <a:moveTo>
                    <a:pt x="110916" y="0"/>
                  </a:moveTo>
                  <a:lnTo>
                    <a:pt x="301142" y="0"/>
                  </a:lnTo>
                  <a:cubicBezTo>
                    <a:pt x="330559" y="0"/>
                    <a:pt x="358771" y="11686"/>
                    <a:pt x="379572" y="32487"/>
                  </a:cubicBezTo>
                  <a:cubicBezTo>
                    <a:pt x="400373" y="53287"/>
                    <a:pt x="412059" y="81499"/>
                    <a:pt x="412059" y="110916"/>
                  </a:cubicBezTo>
                  <a:lnTo>
                    <a:pt x="412059" y="110916"/>
                  </a:lnTo>
                  <a:cubicBezTo>
                    <a:pt x="412059" y="172173"/>
                    <a:pt x="362400" y="221832"/>
                    <a:pt x="301142" y="221832"/>
                  </a:cubicBezTo>
                  <a:lnTo>
                    <a:pt x="110916" y="221832"/>
                  </a:lnTo>
                  <a:cubicBezTo>
                    <a:pt x="81499" y="221832"/>
                    <a:pt x="53287" y="210147"/>
                    <a:pt x="32487" y="189346"/>
                  </a:cubicBezTo>
                  <a:cubicBezTo>
                    <a:pt x="11686" y="168545"/>
                    <a:pt x="0" y="140333"/>
                    <a:pt x="0" y="110916"/>
                  </a:cubicBezTo>
                  <a:lnTo>
                    <a:pt x="0" y="110916"/>
                  </a:lnTo>
                  <a:cubicBezTo>
                    <a:pt x="0" y="81499"/>
                    <a:pt x="11686" y="53287"/>
                    <a:pt x="32487" y="32487"/>
                  </a:cubicBezTo>
                  <a:cubicBezTo>
                    <a:pt x="53287" y="11686"/>
                    <a:pt x="81499" y="0"/>
                    <a:pt x="110916" y="0"/>
                  </a:cubicBezTo>
                  <a:close/>
                </a:path>
              </a:pathLst>
            </a:custGeom>
            <a:solidFill>
              <a:srgbClr val="6AD572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412059" cy="269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467169" y="9465023"/>
            <a:ext cx="253964" cy="253964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9416881" y="9229725"/>
            <a:ext cx="4940637" cy="1293549"/>
          </a:xfrm>
          <a:custGeom>
            <a:avLst/>
            <a:gdLst/>
            <a:ahLst/>
            <a:cxnLst/>
            <a:rect r="r" b="b" t="t" l="l"/>
            <a:pathLst>
              <a:path h="1293549" w="4940637">
                <a:moveTo>
                  <a:pt x="0" y="0"/>
                </a:moveTo>
                <a:lnTo>
                  <a:pt x="4940638" y="0"/>
                </a:lnTo>
                <a:lnTo>
                  <a:pt x="4940638" y="1293549"/>
                </a:lnTo>
                <a:lnTo>
                  <a:pt x="0" y="1293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9729418" y="9363628"/>
            <a:ext cx="4315563" cy="660102"/>
            <a:chOff x="0" y="0"/>
            <a:chExt cx="2888979" cy="44189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888979" cy="441894"/>
            </a:xfrm>
            <a:custGeom>
              <a:avLst/>
              <a:gdLst/>
              <a:ahLst/>
              <a:cxnLst/>
              <a:rect r="r" b="b" t="t" l="l"/>
              <a:pathLst>
                <a:path h="441894" w="2888979">
                  <a:moveTo>
                    <a:pt x="91492" y="0"/>
                  </a:moveTo>
                  <a:lnTo>
                    <a:pt x="2797487" y="0"/>
                  </a:lnTo>
                  <a:cubicBezTo>
                    <a:pt x="2821752" y="0"/>
                    <a:pt x="2845023" y="9639"/>
                    <a:pt x="2862181" y="26797"/>
                  </a:cubicBezTo>
                  <a:cubicBezTo>
                    <a:pt x="2879339" y="43955"/>
                    <a:pt x="2888979" y="67227"/>
                    <a:pt x="2888979" y="91492"/>
                  </a:cubicBezTo>
                  <a:lnTo>
                    <a:pt x="2888979" y="350402"/>
                  </a:lnTo>
                  <a:cubicBezTo>
                    <a:pt x="2888979" y="374668"/>
                    <a:pt x="2879339" y="397939"/>
                    <a:pt x="2862181" y="415097"/>
                  </a:cubicBezTo>
                  <a:cubicBezTo>
                    <a:pt x="2845023" y="432255"/>
                    <a:pt x="2821752" y="441894"/>
                    <a:pt x="2797487" y="441894"/>
                  </a:cubicBezTo>
                  <a:lnTo>
                    <a:pt x="91492" y="441894"/>
                  </a:lnTo>
                  <a:cubicBezTo>
                    <a:pt x="67227" y="441894"/>
                    <a:pt x="43955" y="432255"/>
                    <a:pt x="26797" y="415097"/>
                  </a:cubicBezTo>
                  <a:cubicBezTo>
                    <a:pt x="9639" y="397939"/>
                    <a:pt x="0" y="374668"/>
                    <a:pt x="0" y="350402"/>
                  </a:cubicBezTo>
                  <a:lnTo>
                    <a:pt x="0" y="91492"/>
                  </a:lnTo>
                  <a:cubicBezTo>
                    <a:pt x="0" y="67227"/>
                    <a:pt x="9639" y="43955"/>
                    <a:pt x="26797" y="26797"/>
                  </a:cubicBezTo>
                  <a:cubicBezTo>
                    <a:pt x="43955" y="9639"/>
                    <a:pt x="67227" y="0"/>
                    <a:pt x="91492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2888979" cy="48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729418" y="9292597"/>
            <a:ext cx="4315563" cy="660102"/>
            <a:chOff x="0" y="0"/>
            <a:chExt cx="2888979" cy="44189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888979" cy="441894"/>
            </a:xfrm>
            <a:custGeom>
              <a:avLst/>
              <a:gdLst/>
              <a:ahLst/>
              <a:cxnLst/>
              <a:rect r="r" b="b" t="t" l="l"/>
              <a:pathLst>
                <a:path h="441894" w="2888979">
                  <a:moveTo>
                    <a:pt x="91492" y="0"/>
                  </a:moveTo>
                  <a:lnTo>
                    <a:pt x="2797487" y="0"/>
                  </a:lnTo>
                  <a:cubicBezTo>
                    <a:pt x="2821752" y="0"/>
                    <a:pt x="2845023" y="9639"/>
                    <a:pt x="2862181" y="26797"/>
                  </a:cubicBezTo>
                  <a:cubicBezTo>
                    <a:pt x="2879339" y="43955"/>
                    <a:pt x="2888979" y="67227"/>
                    <a:pt x="2888979" y="91492"/>
                  </a:cubicBezTo>
                  <a:lnTo>
                    <a:pt x="2888979" y="350402"/>
                  </a:lnTo>
                  <a:cubicBezTo>
                    <a:pt x="2888979" y="374668"/>
                    <a:pt x="2879339" y="397939"/>
                    <a:pt x="2862181" y="415097"/>
                  </a:cubicBezTo>
                  <a:cubicBezTo>
                    <a:pt x="2845023" y="432255"/>
                    <a:pt x="2821752" y="441894"/>
                    <a:pt x="2797487" y="441894"/>
                  </a:cubicBezTo>
                  <a:lnTo>
                    <a:pt x="91492" y="441894"/>
                  </a:lnTo>
                  <a:cubicBezTo>
                    <a:pt x="67227" y="441894"/>
                    <a:pt x="43955" y="432255"/>
                    <a:pt x="26797" y="415097"/>
                  </a:cubicBezTo>
                  <a:cubicBezTo>
                    <a:pt x="9639" y="397939"/>
                    <a:pt x="0" y="374668"/>
                    <a:pt x="0" y="350402"/>
                  </a:cubicBezTo>
                  <a:lnTo>
                    <a:pt x="0" y="91492"/>
                  </a:lnTo>
                  <a:cubicBezTo>
                    <a:pt x="0" y="67227"/>
                    <a:pt x="9639" y="43955"/>
                    <a:pt x="26797" y="26797"/>
                  </a:cubicBezTo>
                  <a:cubicBezTo>
                    <a:pt x="43955" y="9639"/>
                    <a:pt x="67227" y="0"/>
                    <a:pt x="91492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2888979" cy="48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935660" y="9456962"/>
            <a:ext cx="615534" cy="331374"/>
            <a:chOff x="0" y="0"/>
            <a:chExt cx="412059" cy="22183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12059" cy="221832"/>
            </a:xfrm>
            <a:custGeom>
              <a:avLst/>
              <a:gdLst/>
              <a:ahLst/>
              <a:cxnLst/>
              <a:rect r="r" b="b" t="t" l="l"/>
              <a:pathLst>
                <a:path h="221832" w="412059">
                  <a:moveTo>
                    <a:pt x="110916" y="0"/>
                  </a:moveTo>
                  <a:lnTo>
                    <a:pt x="301142" y="0"/>
                  </a:lnTo>
                  <a:cubicBezTo>
                    <a:pt x="330559" y="0"/>
                    <a:pt x="358771" y="11686"/>
                    <a:pt x="379572" y="32487"/>
                  </a:cubicBezTo>
                  <a:cubicBezTo>
                    <a:pt x="400373" y="53287"/>
                    <a:pt x="412059" y="81499"/>
                    <a:pt x="412059" y="110916"/>
                  </a:cubicBezTo>
                  <a:lnTo>
                    <a:pt x="412059" y="110916"/>
                  </a:lnTo>
                  <a:cubicBezTo>
                    <a:pt x="412059" y="172173"/>
                    <a:pt x="362400" y="221832"/>
                    <a:pt x="301142" y="221832"/>
                  </a:cubicBezTo>
                  <a:lnTo>
                    <a:pt x="110916" y="221832"/>
                  </a:lnTo>
                  <a:cubicBezTo>
                    <a:pt x="81499" y="221832"/>
                    <a:pt x="53287" y="210147"/>
                    <a:pt x="32487" y="189346"/>
                  </a:cubicBezTo>
                  <a:cubicBezTo>
                    <a:pt x="11686" y="168545"/>
                    <a:pt x="0" y="140333"/>
                    <a:pt x="0" y="110916"/>
                  </a:cubicBezTo>
                  <a:lnTo>
                    <a:pt x="0" y="110916"/>
                  </a:lnTo>
                  <a:cubicBezTo>
                    <a:pt x="0" y="81499"/>
                    <a:pt x="11686" y="53287"/>
                    <a:pt x="32487" y="32487"/>
                  </a:cubicBezTo>
                  <a:cubicBezTo>
                    <a:pt x="53287" y="11686"/>
                    <a:pt x="81499" y="0"/>
                    <a:pt x="110916" y="0"/>
                  </a:cubicBezTo>
                  <a:close/>
                </a:path>
              </a:pathLst>
            </a:custGeom>
            <a:solidFill>
              <a:srgbClr val="6AD572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412059" cy="269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258369" y="9491710"/>
            <a:ext cx="253964" cy="253964"/>
            <a:chOff x="0" y="0"/>
            <a:chExt cx="812800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509752" y="8540987"/>
            <a:ext cx="253964" cy="253964"/>
            <a:chOff x="0" y="0"/>
            <a:chExt cx="812800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793289" y="8467944"/>
            <a:ext cx="253964" cy="253964"/>
            <a:chOff x="0" y="0"/>
            <a:chExt cx="812800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8703028" y="2616525"/>
            <a:ext cx="9100854" cy="3575877"/>
          </a:xfrm>
          <a:custGeom>
            <a:avLst/>
            <a:gdLst/>
            <a:ahLst/>
            <a:cxnLst/>
            <a:rect r="r" b="b" t="t" l="l"/>
            <a:pathLst>
              <a:path h="3575877" w="9100854">
                <a:moveTo>
                  <a:pt x="0" y="0"/>
                </a:moveTo>
                <a:lnTo>
                  <a:pt x="9100855" y="0"/>
                </a:lnTo>
                <a:lnTo>
                  <a:pt x="9100855" y="3575878"/>
                </a:lnTo>
                <a:lnTo>
                  <a:pt x="0" y="3575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700515" y="1660377"/>
            <a:ext cx="7787272" cy="5362867"/>
          </a:xfrm>
          <a:custGeom>
            <a:avLst/>
            <a:gdLst/>
            <a:ahLst/>
            <a:cxnLst/>
            <a:rect r="r" b="b" t="t" l="l"/>
            <a:pathLst>
              <a:path h="5362867" w="7787272">
                <a:moveTo>
                  <a:pt x="0" y="0"/>
                </a:moveTo>
                <a:lnTo>
                  <a:pt x="7787272" y="0"/>
                </a:lnTo>
                <a:lnTo>
                  <a:pt x="7787272" y="5362867"/>
                </a:lnTo>
                <a:lnTo>
                  <a:pt x="0" y="5362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2" id="72"/>
          <p:cNvSpPr txBox="true"/>
          <p:nvPr/>
        </p:nvSpPr>
        <p:spPr>
          <a:xfrm rot="0">
            <a:off x="2449970" y="319907"/>
            <a:ext cx="13388059" cy="142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20"/>
              </a:lnSpc>
            </a:pPr>
            <a:r>
              <a:rPr lang="en-US" b="true" sz="4800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M</a:t>
            </a:r>
            <a:r>
              <a:rPr lang="en-US" b="true" sz="4800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odule 2 </a:t>
            </a:r>
          </a:p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Patient </a:t>
            </a: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(D-H)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2370433" y="8593689"/>
            <a:ext cx="3202335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739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D) บันทึก แก้ไขข้อมูลผู้ป่วยได้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968295" y="8402028"/>
            <a:ext cx="3202335" cy="521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739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E) บันทึก และแก้ไขข้อมูลของผู้ป่วย</a:t>
            </a:r>
            <a:r>
              <a:rPr lang="en-US" sz="1739" b="true">
                <a:solidFill>
                  <a:srgbClr val="528EDF"/>
                </a:solidFill>
                <a:latin typeface="Gotham Bold"/>
                <a:ea typeface="Gotham Bold"/>
                <a:cs typeface="Gotham Bold"/>
                <a:sym typeface="Gotham Bold"/>
              </a:rPr>
              <a:t>ที่ถูกส่งไปที่คลีนิกนอก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253456" y="8370536"/>
            <a:ext cx="3202335" cy="520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739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F) มีรายงานผู้ป่วยที่ถูกส่งมาจากคลีนิกนอก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920295" y="9335509"/>
            <a:ext cx="3202335" cy="520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739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G) สร้าง และบันทึกข้อมูลผู้ป่วยในแต่ละวอร์ด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711495" y="9490581"/>
            <a:ext cx="3202335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739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H) มีรายงานแสดงผู้ป่วยในวอร์ด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853664" y="7099444"/>
            <a:ext cx="5941618" cy="894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แผนภาพความสัมพันธ์เชิงสัมพันธ์ (Relational Schema Diagram หรือ Relational Model Diagram)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533244" y="6413874"/>
            <a:ext cx="5941618" cy="3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แผนภาพแสดงความสัมพันธ์เชิงเอนทิตี (ER-Diagram)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64337" y="8917093"/>
            <a:ext cx="4546988" cy="876329"/>
          </a:xfrm>
          <a:custGeom>
            <a:avLst/>
            <a:gdLst/>
            <a:ahLst/>
            <a:cxnLst/>
            <a:rect r="r" b="b" t="t" l="l"/>
            <a:pathLst>
              <a:path h="876329" w="4546988">
                <a:moveTo>
                  <a:pt x="0" y="0"/>
                </a:moveTo>
                <a:lnTo>
                  <a:pt x="4546988" y="0"/>
                </a:lnTo>
                <a:lnTo>
                  <a:pt x="4546988" y="876328"/>
                </a:lnTo>
                <a:lnTo>
                  <a:pt x="0" y="8763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65381" y="8917093"/>
            <a:ext cx="4546988" cy="876329"/>
          </a:xfrm>
          <a:custGeom>
            <a:avLst/>
            <a:gdLst/>
            <a:ahLst/>
            <a:cxnLst/>
            <a:rect r="r" b="b" t="t" l="l"/>
            <a:pathLst>
              <a:path h="876329" w="4546988">
                <a:moveTo>
                  <a:pt x="0" y="0"/>
                </a:moveTo>
                <a:lnTo>
                  <a:pt x="4546988" y="0"/>
                </a:lnTo>
                <a:lnTo>
                  <a:pt x="4546988" y="876328"/>
                </a:lnTo>
                <a:lnTo>
                  <a:pt x="0" y="8763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H="true">
            <a:off x="-1957107" y="2092471"/>
            <a:ext cx="5885628" cy="2351904"/>
          </a:xfrm>
          <a:prstGeom prst="line">
            <a:avLst/>
          </a:prstGeom>
          <a:ln cap="flat" w="200025">
            <a:gradFill>
              <a:gsLst>
                <a:gs pos="0">
                  <a:srgbClr val="6AD572">
                    <a:alpha val="100000"/>
                  </a:srgbClr>
                </a:gs>
                <a:gs pos="50000">
                  <a:srgbClr val="6AD572">
                    <a:alpha val="100000"/>
                  </a:srgbClr>
                </a:gs>
                <a:gs pos="100000">
                  <a:srgbClr val="65A6FE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3818973" y="-693818"/>
            <a:ext cx="5550705" cy="2769547"/>
          </a:xfrm>
          <a:prstGeom prst="line">
            <a:avLst/>
          </a:prstGeom>
          <a:ln cap="flat" w="200025">
            <a:gradFill>
              <a:gsLst>
                <a:gs pos="0">
                  <a:srgbClr val="6AD572">
                    <a:alpha val="100000"/>
                  </a:srgbClr>
                </a:gs>
                <a:gs pos="50000">
                  <a:srgbClr val="6AD572">
                    <a:alpha val="100000"/>
                  </a:srgbClr>
                </a:gs>
                <a:gs pos="100000">
                  <a:srgbClr val="65A6FE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20080" y="2092471"/>
            <a:ext cx="9144000" cy="5881648"/>
          </a:xfrm>
          <a:custGeom>
            <a:avLst/>
            <a:gdLst/>
            <a:ahLst/>
            <a:cxnLst/>
            <a:rect r="r" b="b" t="t" l="l"/>
            <a:pathLst>
              <a:path h="5881648" w="9144000">
                <a:moveTo>
                  <a:pt x="0" y="0"/>
                </a:moveTo>
                <a:lnTo>
                  <a:pt x="9144000" y="0"/>
                </a:lnTo>
                <a:lnTo>
                  <a:pt x="9144000" y="5881648"/>
                </a:lnTo>
                <a:lnTo>
                  <a:pt x="0" y="5881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64" r="0" b="-76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13254" y="2008137"/>
            <a:ext cx="8931569" cy="5711107"/>
          </a:xfrm>
          <a:custGeom>
            <a:avLst/>
            <a:gdLst/>
            <a:ahLst/>
            <a:cxnLst/>
            <a:rect r="r" b="b" t="t" l="l"/>
            <a:pathLst>
              <a:path h="5711107" w="8931569">
                <a:moveTo>
                  <a:pt x="0" y="0"/>
                </a:moveTo>
                <a:lnTo>
                  <a:pt x="8931570" y="0"/>
                </a:lnTo>
                <a:lnTo>
                  <a:pt x="8931570" y="5711107"/>
                </a:lnTo>
                <a:lnTo>
                  <a:pt x="0" y="57111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146539" y="9012569"/>
            <a:ext cx="634198" cy="65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3"/>
              </a:lnSpc>
            </a:pPr>
            <a:r>
              <a:rPr lang="en-US" sz="4399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57882" y="9022094"/>
            <a:ext cx="634198" cy="65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3"/>
              </a:lnSpc>
            </a:pPr>
            <a:r>
              <a:rPr lang="en-US" sz="4399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J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20620" y="9203386"/>
            <a:ext cx="3363316" cy="3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รายงานผู้ป่วยที่ได้รับยา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51231" y="9174811"/>
            <a:ext cx="3363316" cy="3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สร้างและบันทึกผู้ป่วยที่ได้รับยา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76700" y="338384"/>
            <a:ext cx="10134600" cy="213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0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Module 3</a:t>
            </a:r>
          </a:p>
          <a:p>
            <a:pPr algn="ctr">
              <a:lnSpc>
                <a:spcPts val="5620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Patient Medication </a:t>
            </a: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(J-K)</a:t>
            </a:r>
          </a:p>
          <a:p>
            <a:pPr algn="ctr">
              <a:lnSpc>
                <a:spcPts val="5625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48164" y="7866881"/>
            <a:ext cx="6695636" cy="59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แผนภาพความสัมพันธ์เชิงสัมพันธ์ (Relational Schema Diagram หรือ Relational Model Diagram)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40491" y="8014519"/>
            <a:ext cx="5941618" cy="3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แผนภาพแสดงความสัมพันธ์เชิงเอนทิตี (ER-Diagram)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2335" y="1586673"/>
            <a:ext cx="4565730" cy="3698241"/>
          </a:xfrm>
          <a:custGeom>
            <a:avLst/>
            <a:gdLst/>
            <a:ahLst/>
            <a:cxnLst/>
            <a:rect r="r" b="b" t="t" l="l"/>
            <a:pathLst>
              <a:path h="3698241" w="4565730">
                <a:moveTo>
                  <a:pt x="0" y="0"/>
                </a:moveTo>
                <a:lnTo>
                  <a:pt x="4565730" y="0"/>
                </a:lnTo>
                <a:lnTo>
                  <a:pt x="4565730" y="3698241"/>
                </a:lnTo>
                <a:lnTo>
                  <a:pt x="0" y="36982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788044" y="2443547"/>
            <a:ext cx="1404684" cy="0"/>
          </a:xfrm>
          <a:prstGeom prst="line">
            <a:avLst/>
          </a:prstGeom>
          <a:ln cap="rnd" w="38100">
            <a:solidFill>
              <a:srgbClr val="CADBE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222356" y="2359871"/>
            <a:ext cx="2565688" cy="176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5"/>
              </a:lnSpc>
            </a:pPr>
            <a:r>
              <a:rPr lang="en-US" sz="1281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เกี่ยวกับรายงานรีพอร์ตต่างๆ</a:t>
            </a:r>
          </a:p>
        </p:txBody>
      </p:sp>
      <p:sp>
        <p:nvSpPr>
          <p:cNvPr name="AutoShape 5" id="5"/>
          <p:cNvSpPr/>
          <p:nvPr/>
        </p:nvSpPr>
        <p:spPr>
          <a:xfrm>
            <a:off x="4646633" y="3274286"/>
            <a:ext cx="1546096" cy="0"/>
          </a:xfrm>
          <a:prstGeom prst="line">
            <a:avLst/>
          </a:prstGeom>
          <a:ln cap="rnd" w="38100">
            <a:solidFill>
              <a:srgbClr val="6AD57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2363767" y="3009608"/>
            <a:ext cx="2282865" cy="53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sz="1281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ดูสรุปการทำงานพนักงาน</a:t>
            </a:r>
            <a:r>
              <a:rPr lang="en-US" sz="1281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</a:p>
          <a:p>
            <a:pPr algn="ctr">
              <a:lnSpc>
                <a:spcPts val="1494"/>
              </a:lnSpc>
            </a:pPr>
            <a:r>
              <a:rPr lang="en-US" sz="1281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 ว่าใครทำงานกี่ชั่วโมง</a:t>
            </a:r>
            <a:r>
              <a:rPr lang="en-US" sz="1281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 กี่กะ</a:t>
            </a:r>
          </a:p>
          <a:p>
            <a:pPr algn="ctr">
              <a:lnSpc>
                <a:spcPts val="149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466071" y="3950584"/>
            <a:ext cx="2078259" cy="53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sz="1281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ดูสรุปการใช้เตียงและผู้ป่วย</a:t>
            </a:r>
          </a:p>
          <a:p>
            <a:pPr algn="ctr">
              <a:lnSpc>
                <a:spcPts val="1494"/>
              </a:lnSpc>
            </a:pPr>
            <a:r>
              <a:rPr lang="en-US" sz="1281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 ที่รอในแต่ละวอร์ด</a:t>
            </a:r>
          </a:p>
          <a:p>
            <a:pPr algn="ctr">
              <a:lnSpc>
                <a:spcPts val="1495"/>
              </a:lnSpc>
            </a:pPr>
          </a:p>
        </p:txBody>
      </p:sp>
      <p:sp>
        <p:nvSpPr>
          <p:cNvPr name="AutoShape 8" id="8"/>
          <p:cNvSpPr/>
          <p:nvPr/>
        </p:nvSpPr>
        <p:spPr>
          <a:xfrm>
            <a:off x="4220052" y="4956183"/>
            <a:ext cx="1972676" cy="0"/>
          </a:xfrm>
          <a:prstGeom prst="line">
            <a:avLst/>
          </a:prstGeom>
          <a:ln cap="rnd" w="38100">
            <a:solidFill>
              <a:srgbClr val="66719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51381" y="4105025"/>
            <a:ext cx="1750702" cy="0"/>
          </a:xfrm>
          <a:prstGeom prst="line">
            <a:avLst/>
          </a:prstGeom>
          <a:ln cap="rnd" w="38100">
            <a:solidFill>
              <a:srgbClr val="65A6FE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051381" y="3355552"/>
            <a:ext cx="1546096" cy="0"/>
          </a:xfrm>
          <a:prstGeom prst="line">
            <a:avLst/>
          </a:prstGeom>
          <a:ln cap="rnd" w="38100">
            <a:solidFill>
              <a:srgbClr val="6AD57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051381" y="2465483"/>
            <a:ext cx="1404684" cy="0"/>
          </a:xfrm>
          <a:prstGeom prst="line">
            <a:avLst/>
          </a:prstGeom>
          <a:ln cap="rnd" w="38100">
            <a:solidFill>
              <a:srgbClr val="CADBE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051381" y="4938368"/>
            <a:ext cx="1972676" cy="0"/>
          </a:xfrm>
          <a:prstGeom prst="line">
            <a:avLst/>
          </a:prstGeom>
          <a:ln cap="rnd" w="38100">
            <a:solidFill>
              <a:srgbClr val="66719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4442026" y="4085975"/>
            <a:ext cx="1750702" cy="0"/>
          </a:xfrm>
          <a:prstGeom prst="line">
            <a:avLst/>
          </a:prstGeom>
          <a:ln cap="rnd" w="38100">
            <a:solidFill>
              <a:srgbClr val="65A6FE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8420100" y="5143500"/>
            <a:ext cx="5577798" cy="4803879"/>
          </a:xfrm>
          <a:custGeom>
            <a:avLst/>
            <a:gdLst/>
            <a:ahLst/>
            <a:cxnLst/>
            <a:rect r="r" b="b" t="t" l="l"/>
            <a:pathLst>
              <a:path h="4803879" w="5577798">
                <a:moveTo>
                  <a:pt x="0" y="0"/>
                </a:moveTo>
                <a:lnTo>
                  <a:pt x="5577798" y="0"/>
                </a:lnTo>
                <a:lnTo>
                  <a:pt x="5577798" y="4803879"/>
                </a:lnTo>
                <a:lnTo>
                  <a:pt x="0" y="4803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49" r="0" b="-349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127971" y="130218"/>
            <a:ext cx="8162057" cy="5393760"/>
          </a:xfrm>
          <a:custGeom>
            <a:avLst/>
            <a:gdLst/>
            <a:ahLst/>
            <a:cxnLst/>
            <a:rect r="r" b="b" t="t" l="l"/>
            <a:pathLst>
              <a:path h="5393760" w="8162057">
                <a:moveTo>
                  <a:pt x="0" y="0"/>
                </a:moveTo>
                <a:lnTo>
                  <a:pt x="8162057" y="0"/>
                </a:lnTo>
                <a:lnTo>
                  <a:pt x="8162057" y="5393760"/>
                </a:lnTo>
                <a:lnTo>
                  <a:pt x="0" y="5393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-1714500" y="996758"/>
            <a:ext cx="101346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40475D"/>
                </a:solidFill>
                <a:latin typeface="Canva Sans"/>
                <a:ea typeface="Canva Sans"/>
                <a:cs typeface="Canva Sans"/>
                <a:sym typeface="Canva Sans"/>
              </a:rPr>
              <a:t>Reports and Analytics (โมดูลพิเศษเพิ่มเติม)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3017505" y="312863"/>
            <a:ext cx="1304540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Module 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68374" y="4764178"/>
            <a:ext cx="1873653" cy="357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sz="1281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ดูสรุปยาที่เหลือ</a:t>
            </a:r>
          </a:p>
          <a:p>
            <a:pPr algn="ctr">
              <a:lnSpc>
                <a:spcPts val="1495"/>
              </a:lnSpc>
            </a:pPr>
            <a:r>
              <a:rPr lang="en-US" sz="1281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ในคลัง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57400" y="7128213"/>
            <a:ext cx="5941618" cy="560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6"/>
              </a:lnSpc>
            </a:pPr>
            <a:r>
              <a:rPr lang="en-US" sz="19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แผนภาพความสัมพันธ์เชิงสัมพันธ์ (Relational Schema Diagram หรือ Relational Model Diagram)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35000" y="2379910"/>
            <a:ext cx="5941618" cy="89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2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แผนภาพแสดง</a:t>
            </a:r>
          </a:p>
          <a:p>
            <a:pPr algn="ctr">
              <a:lnSpc>
                <a:spcPts val="2332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ความสัมพันธ์เชิงเอนทิตี </a:t>
            </a:r>
          </a:p>
          <a:p>
            <a:pPr algn="ctr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(ER-Diagram)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708129" y="1232677"/>
          <a:ext cx="11521440" cy="8229600"/>
        </p:xfrm>
        <a:graphic>
          <a:graphicData uri="http://schemas.openxmlformats.org/presentationml/2006/ole">
            <p:oleObj imgW="13830300" imgH="105283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AutoShape 3" id="3"/>
          <p:cNvSpPr/>
          <p:nvPr/>
        </p:nvSpPr>
        <p:spPr>
          <a:xfrm flipV="true">
            <a:off x="-725424" y="671512"/>
            <a:ext cx="20167932" cy="109537"/>
          </a:xfrm>
          <a:prstGeom prst="line">
            <a:avLst/>
          </a:prstGeom>
          <a:ln cap="rnd" w="66675">
            <a:gradFill>
              <a:gsLst>
                <a:gs pos="0">
                  <a:srgbClr val="6AD572">
                    <a:alpha val="100000"/>
                  </a:srgbClr>
                </a:gs>
                <a:gs pos="100000">
                  <a:srgbClr val="65A6FE">
                    <a:alpha val="100000"/>
                  </a:srgbClr>
                </a:gs>
              </a:gsLst>
              <a:lin ang="0"/>
            </a:gradFill>
            <a:prstDash val="sysDot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076700" y="319907"/>
            <a:ext cx="10134600" cy="142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0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Data Dictionary</a:t>
            </a:r>
          </a:p>
          <a:p>
            <a:pPr algn="ctr">
              <a:lnSpc>
                <a:spcPts val="562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-1076325" y="857250"/>
            <a:ext cx="101346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Staff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543175" y="2943225"/>
          <a:ext cx="13201650" cy="4400550"/>
        </p:xfrm>
        <a:graphic>
          <a:graphicData uri="http://schemas.openxmlformats.org/presentationml/2006/ole">
            <p:oleObj imgW="15836900" imgH="7035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076700" y="319907"/>
            <a:ext cx="10134600" cy="142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0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Data Dictionary</a:t>
            </a:r>
          </a:p>
          <a:p>
            <a:pPr algn="ctr">
              <a:lnSpc>
                <a:spcPts val="5625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543175" y="2505249"/>
            <a:ext cx="197241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 strike="noStrike" u="none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 Experience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835922" y="2200188"/>
          <a:ext cx="13201650" cy="4400550"/>
        </p:xfrm>
        <a:graphic>
          <a:graphicData uri="http://schemas.openxmlformats.org/presentationml/2006/ole">
            <p:oleObj imgW="15836900" imgH="7035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076700" y="319907"/>
            <a:ext cx="10134600" cy="142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0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Data Dictionary</a:t>
            </a:r>
          </a:p>
          <a:p>
            <a:pPr algn="ctr">
              <a:lnSpc>
                <a:spcPts val="5625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814640" y="1762212"/>
            <a:ext cx="201498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Staff Ass</a:t>
            </a:r>
            <a:r>
              <a:rPr lang="en-US" b="true" sz="1899" strike="noStrike" u="none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1899" strike="noStrike" u="none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</a:t>
            </a:r>
            <a:r>
              <a:rPr lang="en-US" b="true" sz="1899" strike="noStrike" u="none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b="true" sz="1899" strike="noStrike" u="none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b="true" sz="1899" strike="noStrike" u="none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1899" strike="noStrike" u="none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825281" y="2142577"/>
          <a:ext cx="13201650" cy="4400550"/>
        </p:xfrm>
        <a:graphic>
          <a:graphicData uri="http://schemas.openxmlformats.org/presentationml/2006/ole">
            <p:oleObj imgW="15836900" imgH="7035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076700" y="319907"/>
            <a:ext cx="10134600" cy="142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0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Data Dictionary</a:t>
            </a:r>
          </a:p>
          <a:p>
            <a:pPr algn="ctr">
              <a:lnSpc>
                <a:spcPts val="5625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831681" y="1762212"/>
            <a:ext cx="152712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Qualificat</a:t>
            </a:r>
            <a:r>
              <a:rPr lang="en-US" b="true" sz="1899" strike="noStrike" u="none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543175" y="1685925"/>
          <a:ext cx="13201650" cy="6915150"/>
        </p:xfrm>
        <a:graphic>
          <a:graphicData uri="http://schemas.openxmlformats.org/presentationml/2006/ole">
            <p:oleObj imgW="15836900" imgH="95504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076700" y="319907"/>
            <a:ext cx="10134600" cy="142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0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Data Dictionary</a:t>
            </a:r>
          </a:p>
          <a:p>
            <a:pPr algn="ctr">
              <a:lnSpc>
                <a:spcPts val="5625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543175" y="1251275"/>
            <a:ext cx="97080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Pat</a:t>
            </a:r>
            <a:r>
              <a:rPr lang="en-US" b="true" sz="1899" strike="noStrike" u="none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ients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543175" y="3121660"/>
          <a:ext cx="13201650" cy="4400550"/>
        </p:xfrm>
        <a:graphic>
          <a:graphicData uri="http://schemas.openxmlformats.org/presentationml/2006/ole">
            <p:oleObj imgW="15836900" imgH="7035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076700" y="319907"/>
            <a:ext cx="10134600" cy="142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0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Data Dictionary</a:t>
            </a:r>
          </a:p>
          <a:p>
            <a:pPr algn="ctr">
              <a:lnSpc>
                <a:spcPts val="5625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543175" y="2726690"/>
            <a:ext cx="1216968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NextOfK</a:t>
            </a:r>
            <a:r>
              <a:rPr lang="en-US" b="true" sz="1899" strike="noStrike" u="none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</a:t>
            </a:r>
          </a:p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549500" y="1683385"/>
          <a:ext cx="13201650" cy="3771900"/>
        </p:xfrm>
        <a:graphic>
          <a:graphicData uri="http://schemas.openxmlformats.org/presentationml/2006/ole">
            <p:oleObj imgW="15836900" imgH="6400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076700" y="319907"/>
            <a:ext cx="10134600" cy="142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0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Data Dictionary</a:t>
            </a:r>
          </a:p>
          <a:p>
            <a:pPr algn="ctr">
              <a:lnSpc>
                <a:spcPts val="5625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549500" y="1307465"/>
            <a:ext cx="1514624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Local Doctor</a:t>
            </a:r>
          </a:p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</a:p>
        </p:txBody>
      </p:sp>
      <p:graphicFrame>
        <p:nvGraphicFramePr>
          <p:cNvPr name="Object 5" id="5"/>
          <p:cNvGraphicFramePr/>
          <p:nvPr/>
        </p:nvGraphicFramePr>
        <p:xfrm>
          <a:off x="2549500" y="6115050"/>
          <a:ext cx="13201650" cy="3143250"/>
        </p:xfrm>
        <a:graphic>
          <a:graphicData uri="http://schemas.openxmlformats.org/presentationml/2006/ole">
            <p:oleObj imgW="15836900" imgH="57785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2536850" y="5604510"/>
            <a:ext cx="66987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</a:t>
            </a:r>
            <a:r>
              <a:rPr lang="en-US" b="true" sz="1899" strike="noStrike" u="none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inic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543175" y="2314575"/>
          <a:ext cx="13201650" cy="5657850"/>
        </p:xfrm>
        <a:graphic>
          <a:graphicData uri="http://schemas.openxmlformats.org/presentationml/2006/ole">
            <p:oleObj imgW="15836900" imgH="8293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076700" y="319907"/>
            <a:ext cx="10134600" cy="142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0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Data Dictionary</a:t>
            </a:r>
          </a:p>
          <a:p>
            <a:pPr algn="ctr">
              <a:lnSpc>
                <a:spcPts val="5625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543175" y="1881505"/>
            <a:ext cx="247843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Pat</a:t>
            </a:r>
            <a:r>
              <a:rPr lang="en-US" b="true" sz="1899" strike="noStrike" u="none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ient Appointment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543175" y="1897110"/>
          <a:ext cx="13201650" cy="6915150"/>
        </p:xfrm>
        <a:graphic>
          <a:graphicData uri="http://schemas.openxmlformats.org/presentationml/2006/ole">
            <p:oleObj imgW="15836900" imgH="95504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076700" y="319907"/>
            <a:ext cx="10134600" cy="142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0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Data Dictionary</a:t>
            </a:r>
          </a:p>
          <a:p>
            <a:pPr algn="ctr">
              <a:lnSpc>
                <a:spcPts val="5625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543175" y="1436640"/>
            <a:ext cx="108674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1899" strike="noStrike" u="none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npatient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543175" y="1883797"/>
          <a:ext cx="13201650" cy="3143250"/>
        </p:xfrm>
        <a:graphic>
          <a:graphicData uri="http://schemas.openxmlformats.org/presentationml/2006/ole">
            <p:oleObj imgW="15836900" imgH="5778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3" id="3"/>
          <p:cNvGraphicFramePr/>
          <p:nvPr/>
        </p:nvGraphicFramePr>
        <p:xfrm>
          <a:off x="2543175" y="5787955"/>
          <a:ext cx="13201650" cy="3771900"/>
        </p:xfrm>
        <a:graphic>
          <a:graphicData uri="http://schemas.openxmlformats.org/presentationml/2006/ole">
            <p:oleObj imgW="15836900" imgH="64008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4076700" y="319907"/>
            <a:ext cx="10134600" cy="142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0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Data Dictionary</a:t>
            </a:r>
          </a:p>
          <a:p>
            <a:pPr algn="ctr">
              <a:lnSpc>
                <a:spcPts val="562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543175" y="1423803"/>
            <a:ext cx="46553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</a:t>
            </a:r>
            <a:r>
              <a:rPr lang="en-US" b="true" sz="1899" strike="noStrike" u="none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14600" y="5337616"/>
            <a:ext cx="13716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Waiting List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543175" y="2447623"/>
          <a:ext cx="13201650" cy="5803582"/>
        </p:xfrm>
        <a:graphic>
          <a:graphicData uri="http://schemas.openxmlformats.org/presentationml/2006/ole">
            <p:oleObj imgW="15836900" imgH="8432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076700" y="319907"/>
            <a:ext cx="10134600" cy="142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0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Data Dictionary</a:t>
            </a:r>
          </a:p>
          <a:p>
            <a:pPr algn="ctr">
              <a:lnSpc>
                <a:spcPts val="5625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543175" y="1997694"/>
            <a:ext cx="224075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Patient M</a:t>
            </a:r>
            <a:r>
              <a:rPr lang="en-US" b="true" sz="1899" strike="noStrike" u="none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edication</a:t>
            </a:r>
          </a:p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414945" y="2000250"/>
          <a:ext cx="13201650" cy="3143250"/>
        </p:xfrm>
        <a:graphic>
          <a:graphicData uri="http://schemas.openxmlformats.org/presentationml/2006/ole">
            <p:oleObj imgW="15836900" imgH="5778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3" id="3"/>
          <p:cNvGraphicFramePr/>
          <p:nvPr/>
        </p:nvGraphicFramePr>
        <p:xfrm>
          <a:off x="2414945" y="6115050"/>
          <a:ext cx="13201650" cy="3143250"/>
        </p:xfrm>
        <a:graphic>
          <a:graphicData uri="http://schemas.openxmlformats.org/presentationml/2006/ole">
            <p:oleObj imgW="15836900" imgH="57785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4076700" y="319907"/>
            <a:ext cx="10134600" cy="142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0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Data Dictionary</a:t>
            </a:r>
          </a:p>
          <a:p>
            <a:pPr algn="ctr">
              <a:lnSpc>
                <a:spcPts val="562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414945" y="1537396"/>
            <a:ext cx="206007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Requis</a:t>
            </a:r>
            <a:r>
              <a:rPr lang="en-US" b="true" sz="1899" strike="noStrike" u="none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ition Items</a:t>
            </a:r>
          </a:p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441883" y="5639279"/>
            <a:ext cx="200620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Ward Requis</a:t>
            </a:r>
            <a:r>
              <a:rPr lang="en-US" b="true" sz="1899" strike="noStrike" u="none">
                <a:solidFill>
                  <a:srgbClr val="4047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ition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6958" y="2559591"/>
            <a:ext cx="11745042" cy="5167818"/>
          </a:xfrm>
          <a:custGeom>
            <a:avLst/>
            <a:gdLst/>
            <a:ahLst/>
            <a:cxnLst/>
            <a:rect r="r" b="b" t="t" l="l"/>
            <a:pathLst>
              <a:path h="5167818" w="11745042">
                <a:moveTo>
                  <a:pt x="0" y="0"/>
                </a:moveTo>
                <a:lnTo>
                  <a:pt x="11745042" y="0"/>
                </a:lnTo>
                <a:lnTo>
                  <a:pt x="11745042" y="5167818"/>
                </a:lnTo>
                <a:lnTo>
                  <a:pt x="0" y="51678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77753" y="1369936"/>
            <a:ext cx="10514494" cy="6886994"/>
          </a:xfrm>
          <a:custGeom>
            <a:avLst/>
            <a:gdLst/>
            <a:ahLst/>
            <a:cxnLst/>
            <a:rect r="r" b="b" t="t" l="l"/>
            <a:pathLst>
              <a:path h="6886994" w="10514494">
                <a:moveTo>
                  <a:pt x="0" y="0"/>
                </a:moveTo>
                <a:lnTo>
                  <a:pt x="10514494" y="0"/>
                </a:lnTo>
                <a:lnTo>
                  <a:pt x="10514494" y="6886993"/>
                </a:lnTo>
                <a:lnTo>
                  <a:pt x="0" y="688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99493" y="161673"/>
            <a:ext cx="12489013" cy="895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6"/>
              </a:lnSpc>
            </a:pPr>
            <a:r>
              <a:rPr lang="en-US" sz="3003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Wireframe ภาพรวมของระบบและ Wireframe ที่สำคัญของงานแต่ละงาน</a:t>
            </a:r>
          </a:p>
          <a:p>
            <a:pPr algn="ctr">
              <a:lnSpc>
                <a:spcPts val="351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265951" y="8569338"/>
            <a:ext cx="1687049" cy="39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6"/>
              </a:lnSpc>
              <a:spcBef>
                <a:spcPct val="0"/>
              </a:spcBef>
            </a:pPr>
            <a:r>
              <a:rPr lang="en-US" b="true" sz="2600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wireframe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45982" y="8569338"/>
            <a:ext cx="1473637" cy="39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6"/>
              </a:lnSpc>
              <a:spcBef>
                <a:spcPct val="0"/>
              </a:spcBef>
            </a:pPr>
            <a:r>
              <a:rPr lang="en-US" b="true" sz="2600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mock-up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93046" y="1406688"/>
            <a:ext cx="4081905" cy="3078532"/>
          </a:xfrm>
          <a:custGeom>
            <a:avLst/>
            <a:gdLst/>
            <a:ahLst/>
            <a:cxnLst/>
            <a:rect r="r" b="b" t="t" l="l"/>
            <a:pathLst>
              <a:path h="3078532" w="4081905">
                <a:moveTo>
                  <a:pt x="0" y="0"/>
                </a:moveTo>
                <a:lnTo>
                  <a:pt x="4081905" y="0"/>
                </a:lnTo>
                <a:lnTo>
                  <a:pt x="4081905" y="3078532"/>
                </a:lnTo>
                <a:lnTo>
                  <a:pt x="0" y="30785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52762" y="1406688"/>
            <a:ext cx="3709398" cy="3472776"/>
          </a:xfrm>
          <a:custGeom>
            <a:avLst/>
            <a:gdLst/>
            <a:ahLst/>
            <a:cxnLst/>
            <a:rect r="r" b="b" t="t" l="l"/>
            <a:pathLst>
              <a:path h="3472776" w="3709398">
                <a:moveTo>
                  <a:pt x="0" y="0"/>
                </a:moveTo>
                <a:lnTo>
                  <a:pt x="3709399" y="0"/>
                </a:lnTo>
                <a:lnTo>
                  <a:pt x="3709399" y="3472777"/>
                </a:lnTo>
                <a:lnTo>
                  <a:pt x="0" y="3472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665756" y="1406688"/>
            <a:ext cx="3469007" cy="3501127"/>
          </a:xfrm>
          <a:custGeom>
            <a:avLst/>
            <a:gdLst/>
            <a:ahLst/>
            <a:cxnLst/>
            <a:rect r="r" b="b" t="t" l="l"/>
            <a:pathLst>
              <a:path h="3501127" w="3469007">
                <a:moveTo>
                  <a:pt x="0" y="0"/>
                </a:moveTo>
                <a:lnTo>
                  <a:pt x="3469006" y="0"/>
                </a:lnTo>
                <a:lnTo>
                  <a:pt x="3469006" y="3501128"/>
                </a:lnTo>
                <a:lnTo>
                  <a:pt x="0" y="35011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93046" y="5692061"/>
            <a:ext cx="4258872" cy="3188250"/>
          </a:xfrm>
          <a:custGeom>
            <a:avLst/>
            <a:gdLst/>
            <a:ahLst/>
            <a:cxnLst/>
            <a:rect r="r" b="b" t="t" l="l"/>
            <a:pathLst>
              <a:path h="3188250" w="4258872">
                <a:moveTo>
                  <a:pt x="0" y="0"/>
                </a:moveTo>
                <a:lnTo>
                  <a:pt x="4258872" y="0"/>
                </a:lnTo>
                <a:lnTo>
                  <a:pt x="4258872" y="3188251"/>
                </a:lnTo>
                <a:lnTo>
                  <a:pt x="0" y="31882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752762" y="5692061"/>
            <a:ext cx="4000245" cy="3040777"/>
          </a:xfrm>
          <a:custGeom>
            <a:avLst/>
            <a:gdLst/>
            <a:ahLst/>
            <a:cxnLst/>
            <a:rect r="r" b="b" t="t" l="l"/>
            <a:pathLst>
              <a:path h="3040777" w="4000245">
                <a:moveTo>
                  <a:pt x="0" y="0"/>
                </a:moveTo>
                <a:lnTo>
                  <a:pt x="4000246" y="0"/>
                </a:lnTo>
                <a:lnTo>
                  <a:pt x="4000246" y="3040777"/>
                </a:lnTo>
                <a:lnTo>
                  <a:pt x="0" y="3040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57883" y="5692061"/>
            <a:ext cx="4017645" cy="3040777"/>
          </a:xfrm>
          <a:custGeom>
            <a:avLst/>
            <a:gdLst/>
            <a:ahLst/>
            <a:cxnLst/>
            <a:rect r="r" b="b" t="t" l="l"/>
            <a:pathLst>
              <a:path h="3040777" w="4017645">
                <a:moveTo>
                  <a:pt x="0" y="0"/>
                </a:moveTo>
                <a:lnTo>
                  <a:pt x="4017645" y="0"/>
                </a:lnTo>
                <a:lnTo>
                  <a:pt x="4017645" y="3040777"/>
                </a:lnTo>
                <a:lnTo>
                  <a:pt x="0" y="30407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25553" y="145060"/>
            <a:ext cx="13532094" cy="142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0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Wireframe ที่สำคัญของงานแต่ละงาน module1</a:t>
            </a:r>
          </a:p>
          <a:p>
            <a:pPr algn="ctr">
              <a:lnSpc>
                <a:spcPts val="5625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94894" y="1028700"/>
            <a:ext cx="3053709" cy="2259307"/>
          </a:xfrm>
          <a:custGeom>
            <a:avLst/>
            <a:gdLst/>
            <a:ahLst/>
            <a:cxnLst/>
            <a:rect r="r" b="b" t="t" l="l"/>
            <a:pathLst>
              <a:path h="2259307" w="3053709">
                <a:moveTo>
                  <a:pt x="0" y="0"/>
                </a:moveTo>
                <a:lnTo>
                  <a:pt x="3053709" y="0"/>
                </a:lnTo>
                <a:lnTo>
                  <a:pt x="3053709" y="2259307"/>
                </a:lnTo>
                <a:lnTo>
                  <a:pt x="0" y="22593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32128" y="748638"/>
            <a:ext cx="2244999" cy="2900901"/>
          </a:xfrm>
          <a:custGeom>
            <a:avLst/>
            <a:gdLst/>
            <a:ahLst/>
            <a:cxnLst/>
            <a:rect r="r" b="b" t="t" l="l"/>
            <a:pathLst>
              <a:path h="2900901" w="2244999">
                <a:moveTo>
                  <a:pt x="0" y="0"/>
                </a:moveTo>
                <a:lnTo>
                  <a:pt x="2244999" y="0"/>
                </a:lnTo>
                <a:lnTo>
                  <a:pt x="2244999" y="2900901"/>
                </a:lnTo>
                <a:lnTo>
                  <a:pt x="0" y="29009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72278" y="748638"/>
            <a:ext cx="2315322" cy="2977651"/>
          </a:xfrm>
          <a:custGeom>
            <a:avLst/>
            <a:gdLst/>
            <a:ahLst/>
            <a:cxnLst/>
            <a:rect r="r" b="b" t="t" l="l"/>
            <a:pathLst>
              <a:path h="2977651" w="2315322">
                <a:moveTo>
                  <a:pt x="0" y="0"/>
                </a:moveTo>
                <a:lnTo>
                  <a:pt x="2315322" y="0"/>
                </a:lnTo>
                <a:lnTo>
                  <a:pt x="2315322" y="2977651"/>
                </a:lnTo>
                <a:lnTo>
                  <a:pt x="0" y="29776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167240" y="3705131"/>
            <a:ext cx="2666534" cy="2014428"/>
          </a:xfrm>
          <a:custGeom>
            <a:avLst/>
            <a:gdLst/>
            <a:ahLst/>
            <a:cxnLst/>
            <a:rect r="r" b="b" t="t" l="l"/>
            <a:pathLst>
              <a:path h="2014428" w="2666534">
                <a:moveTo>
                  <a:pt x="0" y="0"/>
                </a:moveTo>
                <a:lnTo>
                  <a:pt x="2666535" y="0"/>
                </a:lnTo>
                <a:lnTo>
                  <a:pt x="2666535" y="2014428"/>
                </a:lnTo>
                <a:lnTo>
                  <a:pt x="0" y="2014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32128" y="3818518"/>
            <a:ext cx="2515702" cy="1917853"/>
          </a:xfrm>
          <a:custGeom>
            <a:avLst/>
            <a:gdLst/>
            <a:ahLst/>
            <a:cxnLst/>
            <a:rect r="r" b="b" t="t" l="l"/>
            <a:pathLst>
              <a:path h="1917853" w="2515702">
                <a:moveTo>
                  <a:pt x="0" y="0"/>
                </a:moveTo>
                <a:lnTo>
                  <a:pt x="2515702" y="0"/>
                </a:lnTo>
                <a:lnTo>
                  <a:pt x="2515702" y="1917853"/>
                </a:lnTo>
                <a:lnTo>
                  <a:pt x="0" y="19178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46318" y="3818518"/>
            <a:ext cx="2530219" cy="1966587"/>
          </a:xfrm>
          <a:custGeom>
            <a:avLst/>
            <a:gdLst/>
            <a:ahLst/>
            <a:cxnLst/>
            <a:rect r="r" b="b" t="t" l="l"/>
            <a:pathLst>
              <a:path h="1966587" w="2530219">
                <a:moveTo>
                  <a:pt x="0" y="0"/>
                </a:moveTo>
                <a:lnTo>
                  <a:pt x="2530219" y="0"/>
                </a:lnTo>
                <a:lnTo>
                  <a:pt x="2530219" y="1966586"/>
                </a:lnTo>
                <a:lnTo>
                  <a:pt x="0" y="19665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994894" y="6042366"/>
            <a:ext cx="3034277" cy="2279204"/>
          </a:xfrm>
          <a:custGeom>
            <a:avLst/>
            <a:gdLst/>
            <a:ahLst/>
            <a:cxnLst/>
            <a:rect r="r" b="b" t="t" l="l"/>
            <a:pathLst>
              <a:path h="2279204" w="3034277">
                <a:moveTo>
                  <a:pt x="0" y="0"/>
                </a:moveTo>
                <a:lnTo>
                  <a:pt x="3034277" y="0"/>
                </a:lnTo>
                <a:lnTo>
                  <a:pt x="3034277" y="2279203"/>
                </a:lnTo>
                <a:lnTo>
                  <a:pt x="0" y="22792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32128" y="6161315"/>
            <a:ext cx="2515702" cy="1949212"/>
          </a:xfrm>
          <a:custGeom>
            <a:avLst/>
            <a:gdLst/>
            <a:ahLst/>
            <a:cxnLst/>
            <a:rect r="r" b="b" t="t" l="l"/>
            <a:pathLst>
              <a:path h="1949212" w="2515702">
                <a:moveTo>
                  <a:pt x="0" y="0"/>
                </a:moveTo>
                <a:lnTo>
                  <a:pt x="2515702" y="0"/>
                </a:lnTo>
                <a:lnTo>
                  <a:pt x="2515702" y="1949212"/>
                </a:lnTo>
                <a:lnTo>
                  <a:pt x="0" y="19492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72278" y="6207361"/>
            <a:ext cx="2407157" cy="1857119"/>
          </a:xfrm>
          <a:custGeom>
            <a:avLst/>
            <a:gdLst/>
            <a:ahLst/>
            <a:cxnLst/>
            <a:rect r="r" b="b" t="t" l="l"/>
            <a:pathLst>
              <a:path h="1857119" w="2407157">
                <a:moveTo>
                  <a:pt x="0" y="0"/>
                </a:moveTo>
                <a:lnTo>
                  <a:pt x="2407158" y="0"/>
                </a:lnTo>
                <a:lnTo>
                  <a:pt x="2407158" y="1857119"/>
                </a:lnTo>
                <a:lnTo>
                  <a:pt x="0" y="18571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167240" y="8281977"/>
            <a:ext cx="2666534" cy="2007894"/>
          </a:xfrm>
          <a:custGeom>
            <a:avLst/>
            <a:gdLst/>
            <a:ahLst/>
            <a:cxnLst/>
            <a:rect r="r" b="b" t="t" l="l"/>
            <a:pathLst>
              <a:path h="2007894" w="2666534">
                <a:moveTo>
                  <a:pt x="0" y="0"/>
                </a:moveTo>
                <a:lnTo>
                  <a:pt x="2666535" y="0"/>
                </a:lnTo>
                <a:lnTo>
                  <a:pt x="2666535" y="2007894"/>
                </a:lnTo>
                <a:lnTo>
                  <a:pt x="0" y="200789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32128" y="8357364"/>
            <a:ext cx="2428994" cy="1857119"/>
          </a:xfrm>
          <a:custGeom>
            <a:avLst/>
            <a:gdLst/>
            <a:ahLst/>
            <a:cxnLst/>
            <a:rect r="r" b="b" t="t" l="l"/>
            <a:pathLst>
              <a:path h="1857119" w="2428994">
                <a:moveTo>
                  <a:pt x="0" y="0"/>
                </a:moveTo>
                <a:lnTo>
                  <a:pt x="2428994" y="0"/>
                </a:lnTo>
                <a:lnTo>
                  <a:pt x="2428994" y="1857119"/>
                </a:lnTo>
                <a:lnTo>
                  <a:pt x="0" y="18571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772278" y="8329741"/>
            <a:ext cx="2427644" cy="1857119"/>
          </a:xfrm>
          <a:custGeom>
            <a:avLst/>
            <a:gdLst/>
            <a:ahLst/>
            <a:cxnLst/>
            <a:rect r="r" b="b" t="t" l="l"/>
            <a:pathLst>
              <a:path h="1857119" w="2427644">
                <a:moveTo>
                  <a:pt x="0" y="0"/>
                </a:moveTo>
                <a:lnTo>
                  <a:pt x="2427645" y="0"/>
                </a:lnTo>
                <a:lnTo>
                  <a:pt x="2427645" y="1857118"/>
                </a:lnTo>
                <a:lnTo>
                  <a:pt x="0" y="18571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225553" y="39878"/>
            <a:ext cx="13532094" cy="142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0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Wireframe ที่สำคัญของงานแต่ละงาน module2</a:t>
            </a:r>
          </a:p>
          <a:p>
            <a:pPr algn="ctr">
              <a:lnSpc>
                <a:spcPts val="5625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91004" y="1201349"/>
            <a:ext cx="3257321" cy="2485850"/>
          </a:xfrm>
          <a:custGeom>
            <a:avLst/>
            <a:gdLst/>
            <a:ahLst/>
            <a:cxnLst/>
            <a:rect r="r" b="b" t="t" l="l"/>
            <a:pathLst>
              <a:path h="2485850" w="3257321">
                <a:moveTo>
                  <a:pt x="0" y="0"/>
                </a:moveTo>
                <a:lnTo>
                  <a:pt x="3257321" y="0"/>
                </a:lnTo>
                <a:lnTo>
                  <a:pt x="3257321" y="2485850"/>
                </a:lnTo>
                <a:lnTo>
                  <a:pt x="0" y="2485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43800" y="1101959"/>
            <a:ext cx="3153738" cy="2408582"/>
          </a:xfrm>
          <a:custGeom>
            <a:avLst/>
            <a:gdLst/>
            <a:ahLst/>
            <a:cxnLst/>
            <a:rect r="r" b="b" t="t" l="l"/>
            <a:pathLst>
              <a:path h="2408582" w="3153738">
                <a:moveTo>
                  <a:pt x="0" y="0"/>
                </a:moveTo>
                <a:lnTo>
                  <a:pt x="3153738" y="0"/>
                </a:lnTo>
                <a:lnTo>
                  <a:pt x="3153738" y="2408582"/>
                </a:lnTo>
                <a:lnTo>
                  <a:pt x="0" y="2408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94023" y="1101959"/>
            <a:ext cx="3163624" cy="2408582"/>
          </a:xfrm>
          <a:custGeom>
            <a:avLst/>
            <a:gdLst/>
            <a:ahLst/>
            <a:cxnLst/>
            <a:rect r="r" b="b" t="t" l="l"/>
            <a:pathLst>
              <a:path h="2408582" w="3163624">
                <a:moveTo>
                  <a:pt x="0" y="0"/>
                </a:moveTo>
                <a:lnTo>
                  <a:pt x="3163624" y="0"/>
                </a:lnTo>
                <a:lnTo>
                  <a:pt x="3163624" y="2408582"/>
                </a:lnTo>
                <a:lnTo>
                  <a:pt x="0" y="24085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91004" y="7076451"/>
            <a:ext cx="3257321" cy="2494969"/>
          </a:xfrm>
          <a:custGeom>
            <a:avLst/>
            <a:gdLst/>
            <a:ahLst/>
            <a:cxnLst/>
            <a:rect r="r" b="b" t="t" l="l"/>
            <a:pathLst>
              <a:path h="2494969" w="3257321">
                <a:moveTo>
                  <a:pt x="0" y="0"/>
                </a:moveTo>
                <a:lnTo>
                  <a:pt x="3257321" y="0"/>
                </a:lnTo>
                <a:lnTo>
                  <a:pt x="3257321" y="2494969"/>
                </a:lnTo>
                <a:lnTo>
                  <a:pt x="0" y="2494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43800" y="7144914"/>
            <a:ext cx="3090851" cy="2358044"/>
          </a:xfrm>
          <a:custGeom>
            <a:avLst/>
            <a:gdLst/>
            <a:ahLst/>
            <a:cxnLst/>
            <a:rect r="r" b="b" t="t" l="l"/>
            <a:pathLst>
              <a:path h="2358044" w="3090851">
                <a:moveTo>
                  <a:pt x="0" y="0"/>
                </a:moveTo>
                <a:lnTo>
                  <a:pt x="3090851" y="0"/>
                </a:lnTo>
                <a:lnTo>
                  <a:pt x="3090851" y="2358044"/>
                </a:lnTo>
                <a:lnTo>
                  <a:pt x="0" y="23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90451" y="7144914"/>
            <a:ext cx="3076960" cy="2358044"/>
          </a:xfrm>
          <a:custGeom>
            <a:avLst/>
            <a:gdLst/>
            <a:ahLst/>
            <a:cxnLst/>
            <a:rect r="r" b="b" t="t" l="l"/>
            <a:pathLst>
              <a:path h="2358044" w="3076960">
                <a:moveTo>
                  <a:pt x="0" y="0"/>
                </a:moveTo>
                <a:lnTo>
                  <a:pt x="3076960" y="0"/>
                </a:lnTo>
                <a:lnTo>
                  <a:pt x="3076960" y="2358044"/>
                </a:lnTo>
                <a:lnTo>
                  <a:pt x="0" y="23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391004" y="4050259"/>
            <a:ext cx="3314565" cy="2529319"/>
          </a:xfrm>
          <a:custGeom>
            <a:avLst/>
            <a:gdLst/>
            <a:ahLst/>
            <a:cxnLst/>
            <a:rect r="r" b="b" t="t" l="l"/>
            <a:pathLst>
              <a:path h="2529319" w="3314565">
                <a:moveTo>
                  <a:pt x="0" y="0"/>
                </a:moveTo>
                <a:lnTo>
                  <a:pt x="3314565" y="0"/>
                </a:lnTo>
                <a:lnTo>
                  <a:pt x="3314565" y="2529319"/>
                </a:lnTo>
                <a:lnTo>
                  <a:pt x="0" y="25293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587071" y="4083852"/>
            <a:ext cx="3067196" cy="2487751"/>
          </a:xfrm>
          <a:custGeom>
            <a:avLst/>
            <a:gdLst/>
            <a:ahLst/>
            <a:cxnLst/>
            <a:rect r="r" b="b" t="t" l="l"/>
            <a:pathLst>
              <a:path h="2487751" w="3067196">
                <a:moveTo>
                  <a:pt x="0" y="0"/>
                </a:moveTo>
                <a:lnTo>
                  <a:pt x="3067196" y="0"/>
                </a:lnTo>
                <a:lnTo>
                  <a:pt x="3067196" y="2487751"/>
                </a:lnTo>
                <a:lnTo>
                  <a:pt x="0" y="24877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540217" y="4069219"/>
            <a:ext cx="3118372" cy="2491398"/>
          </a:xfrm>
          <a:custGeom>
            <a:avLst/>
            <a:gdLst/>
            <a:ahLst/>
            <a:cxnLst/>
            <a:rect r="r" b="b" t="t" l="l"/>
            <a:pathLst>
              <a:path h="2491398" w="3118372">
                <a:moveTo>
                  <a:pt x="0" y="0"/>
                </a:moveTo>
                <a:lnTo>
                  <a:pt x="3118372" y="0"/>
                </a:lnTo>
                <a:lnTo>
                  <a:pt x="3118372" y="2491398"/>
                </a:lnTo>
                <a:lnTo>
                  <a:pt x="0" y="24913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25553" y="39878"/>
            <a:ext cx="13532094" cy="142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0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Wireframe ที่สำคัญของงานแต่ละงาน module3</a:t>
            </a:r>
          </a:p>
          <a:p>
            <a:pPr algn="ctr">
              <a:lnSpc>
                <a:spcPts val="5625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0926" y="3206844"/>
            <a:ext cx="5153832" cy="3873311"/>
          </a:xfrm>
          <a:custGeom>
            <a:avLst/>
            <a:gdLst/>
            <a:ahLst/>
            <a:cxnLst/>
            <a:rect r="r" b="b" t="t" l="l"/>
            <a:pathLst>
              <a:path h="3873311" w="5153832">
                <a:moveTo>
                  <a:pt x="0" y="0"/>
                </a:moveTo>
                <a:lnTo>
                  <a:pt x="5153832" y="0"/>
                </a:lnTo>
                <a:lnTo>
                  <a:pt x="5153832" y="3873312"/>
                </a:lnTo>
                <a:lnTo>
                  <a:pt x="0" y="387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96988" y="3206844"/>
            <a:ext cx="5180087" cy="3917173"/>
          </a:xfrm>
          <a:custGeom>
            <a:avLst/>
            <a:gdLst/>
            <a:ahLst/>
            <a:cxnLst/>
            <a:rect r="r" b="b" t="t" l="l"/>
            <a:pathLst>
              <a:path h="3917173" w="5180087">
                <a:moveTo>
                  <a:pt x="0" y="0"/>
                </a:moveTo>
                <a:lnTo>
                  <a:pt x="5180086" y="0"/>
                </a:lnTo>
                <a:lnTo>
                  <a:pt x="5180086" y="3917173"/>
                </a:lnTo>
                <a:lnTo>
                  <a:pt x="0" y="39171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94314" y="3162983"/>
            <a:ext cx="5273117" cy="3917173"/>
          </a:xfrm>
          <a:custGeom>
            <a:avLst/>
            <a:gdLst/>
            <a:ahLst/>
            <a:cxnLst/>
            <a:rect r="r" b="b" t="t" l="l"/>
            <a:pathLst>
              <a:path h="3917173" w="5273117">
                <a:moveTo>
                  <a:pt x="0" y="0"/>
                </a:moveTo>
                <a:lnTo>
                  <a:pt x="5273117" y="0"/>
                </a:lnTo>
                <a:lnTo>
                  <a:pt x="5273117" y="3917173"/>
                </a:lnTo>
                <a:lnTo>
                  <a:pt x="0" y="3917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25553" y="145060"/>
            <a:ext cx="13532094" cy="142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0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Wireframe ที่สำคัญของงานแต่ละงาน module4</a:t>
            </a:r>
          </a:p>
          <a:p>
            <a:pPr algn="ctr">
              <a:lnSpc>
                <a:spcPts val="5625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9327" y="1802515"/>
            <a:ext cx="4786673" cy="3128192"/>
          </a:xfrm>
          <a:custGeom>
            <a:avLst/>
            <a:gdLst/>
            <a:ahLst/>
            <a:cxnLst/>
            <a:rect r="r" b="b" t="t" l="l"/>
            <a:pathLst>
              <a:path h="3128192" w="4786673">
                <a:moveTo>
                  <a:pt x="0" y="0"/>
                </a:moveTo>
                <a:lnTo>
                  <a:pt x="4786673" y="0"/>
                </a:lnTo>
                <a:lnTo>
                  <a:pt x="4786673" y="3128192"/>
                </a:lnTo>
                <a:lnTo>
                  <a:pt x="0" y="31281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58895" y="1802515"/>
            <a:ext cx="4665436" cy="3128192"/>
          </a:xfrm>
          <a:custGeom>
            <a:avLst/>
            <a:gdLst/>
            <a:ahLst/>
            <a:cxnLst/>
            <a:rect r="r" b="b" t="t" l="l"/>
            <a:pathLst>
              <a:path h="3128192" w="4665436">
                <a:moveTo>
                  <a:pt x="0" y="0"/>
                </a:moveTo>
                <a:lnTo>
                  <a:pt x="4665435" y="0"/>
                </a:lnTo>
                <a:lnTo>
                  <a:pt x="4665435" y="3128192"/>
                </a:lnTo>
                <a:lnTo>
                  <a:pt x="0" y="31281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62505" y="1802515"/>
            <a:ext cx="5000851" cy="3128192"/>
          </a:xfrm>
          <a:custGeom>
            <a:avLst/>
            <a:gdLst/>
            <a:ahLst/>
            <a:cxnLst/>
            <a:rect r="r" b="b" t="t" l="l"/>
            <a:pathLst>
              <a:path h="3128192" w="5000851">
                <a:moveTo>
                  <a:pt x="0" y="0"/>
                </a:moveTo>
                <a:lnTo>
                  <a:pt x="5000851" y="0"/>
                </a:lnTo>
                <a:lnTo>
                  <a:pt x="5000851" y="3128192"/>
                </a:lnTo>
                <a:lnTo>
                  <a:pt x="0" y="31281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35964" y="5902223"/>
            <a:ext cx="4665436" cy="3075539"/>
          </a:xfrm>
          <a:custGeom>
            <a:avLst/>
            <a:gdLst/>
            <a:ahLst/>
            <a:cxnLst/>
            <a:rect r="r" b="b" t="t" l="l"/>
            <a:pathLst>
              <a:path h="3075539" w="4665436">
                <a:moveTo>
                  <a:pt x="0" y="0"/>
                </a:moveTo>
                <a:lnTo>
                  <a:pt x="4665436" y="0"/>
                </a:lnTo>
                <a:lnTo>
                  <a:pt x="4665436" y="3075539"/>
                </a:lnTo>
                <a:lnTo>
                  <a:pt x="0" y="3075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15399" y="5958567"/>
            <a:ext cx="5552427" cy="2962850"/>
          </a:xfrm>
          <a:custGeom>
            <a:avLst/>
            <a:gdLst/>
            <a:ahLst/>
            <a:cxnLst/>
            <a:rect r="r" b="b" t="t" l="l"/>
            <a:pathLst>
              <a:path h="2962850" w="5552427">
                <a:moveTo>
                  <a:pt x="0" y="0"/>
                </a:moveTo>
                <a:lnTo>
                  <a:pt x="5552427" y="0"/>
                </a:lnTo>
                <a:lnTo>
                  <a:pt x="5552427" y="2962850"/>
                </a:lnTo>
                <a:lnTo>
                  <a:pt x="0" y="29628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062505" y="5796748"/>
            <a:ext cx="5000851" cy="3124669"/>
          </a:xfrm>
          <a:custGeom>
            <a:avLst/>
            <a:gdLst/>
            <a:ahLst/>
            <a:cxnLst/>
            <a:rect r="r" b="b" t="t" l="l"/>
            <a:pathLst>
              <a:path h="3124669" w="5000851">
                <a:moveTo>
                  <a:pt x="0" y="0"/>
                </a:moveTo>
                <a:lnTo>
                  <a:pt x="5000851" y="0"/>
                </a:lnTo>
                <a:lnTo>
                  <a:pt x="5000851" y="3124669"/>
                </a:lnTo>
                <a:lnTo>
                  <a:pt x="0" y="31246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25075" y="239077"/>
            <a:ext cx="12637850" cy="143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หน้าจอแต่ละหน้าของระบบ พร้อมทั้งการอธิบายการทำงานอย่างคร่าวๆ (คู่มือผู้ใช้ฉบับย่อ)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44042" y="4930707"/>
            <a:ext cx="4002137" cy="29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กรอกข้อมูล User และ Password เพื่อเข้าสู่ระบบ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02450" y="4930707"/>
            <a:ext cx="5283101" cy="587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543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หน้าแรกของระบบ แสดงเมนูนำทางด้านซ้าย และการ์ดสรุปสถิติสำคัญ 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1543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และยาคงคลัง เพื่อใช้ประเมินสถานะโรงพยาบาลอย่างรวดเร็ว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85550" y="4940232"/>
            <a:ext cx="6075321" cy="866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8"/>
              </a:lnSpc>
              <a:spcBef>
                <a:spcPct val="0"/>
              </a:spcBef>
            </a:pPr>
            <a:r>
              <a:rPr lang="en-US" sz="1503">
                <a:solidFill>
                  <a:srgbClr val="041F60"/>
                </a:solidFill>
                <a:latin typeface="Canva Sans"/>
                <a:ea typeface="Canva Sans"/>
                <a:cs typeface="Canva Sans"/>
                <a:sym typeface="Canva Sans"/>
              </a:rPr>
              <a:t>หน้าจอจัดการข้อมูลวอร์ด สามารถค้นหาด้วยช่อง Search เพิ่มข้อมูลด้วยปุ่ม Add </a:t>
            </a:r>
          </a:p>
          <a:p>
            <a:pPr algn="ctr">
              <a:lnSpc>
                <a:spcPts val="2338"/>
              </a:lnSpc>
              <a:spcBef>
                <a:spcPct val="0"/>
              </a:spcBef>
            </a:pPr>
            <a:r>
              <a:rPr lang="en-US" sz="1503">
                <a:solidFill>
                  <a:srgbClr val="041F60"/>
                </a:solidFill>
                <a:latin typeface="Canva Sans"/>
                <a:ea typeface="Canva Sans"/>
                <a:cs typeface="Canva Sans"/>
                <a:sym typeface="Canva Sans"/>
              </a:rPr>
              <a:t>และบันทึกด้วย Save หรือยกเลิกด้วย Cancel แก้ไขโดยเลือกวอร์ดแล้วกด Edit </a:t>
            </a:r>
          </a:p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sz="1503">
                <a:solidFill>
                  <a:srgbClr val="041F60"/>
                </a:solidFill>
                <a:latin typeface="Canva Sans"/>
                <a:ea typeface="Canva Sans"/>
                <a:cs typeface="Canva Sans"/>
                <a:sym typeface="Canva Sans"/>
              </a:rPr>
              <a:t>และลบออกจากระบบด้วยปุ่ม Delete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6565" y="9010571"/>
            <a:ext cx="5464235" cy="852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  <a:spcBef>
                <a:spcPct val="0"/>
              </a:spcBef>
            </a:pPr>
            <a:r>
              <a:rPr lang="en-US" sz="147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หน้าจอเพิ่มข้อมูลวอร์ดใหม่ โดยกรอกหมายเลขวอร์ด ชื่อวอร์ด จำนวนเตียง </a:t>
            </a:r>
          </a:p>
          <a:p>
            <a:pPr algn="ctr">
              <a:lnSpc>
                <a:spcPts val="2299"/>
              </a:lnSpc>
              <a:spcBef>
                <a:spcPct val="0"/>
              </a:spcBef>
            </a:pPr>
            <a:r>
              <a:rPr lang="en-US" sz="147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เบอร์โทรภายใน และตำแหน่งที่ตั้ง จากนั้นกด Add </a:t>
            </a:r>
          </a:p>
          <a:p>
            <a:pPr algn="ctr">
              <a:lnSpc>
                <a:spcPts val="2300"/>
              </a:lnSpc>
              <a:spcBef>
                <a:spcPct val="0"/>
              </a:spcBef>
            </a:pPr>
            <a:r>
              <a:rPr lang="en-US" sz="147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เพื่อบันทึก หรือ Cancel เพื่อยกเลิก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84975" y="9001046"/>
            <a:ext cx="5013275" cy="92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หน้าจอแก้ไขหรือลบข้อมูลวอร์ด ผู้ใช้สามารถปรับปรุงรายละเอียด</a:t>
            </a:r>
          </a:p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แล้วกด Save เพื่อบันทึก กด Delete เพื่อลบข้อมูล </a:t>
            </a:r>
          </a:p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หรือ Cancel เพื่อยกเลิกและกลับไปหน้าก่อนหน้า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67826" y="9063793"/>
            <a:ext cx="5567362" cy="6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หน้าจอจัดการข้อมูลเตียง ค้นหาผ่าน Search เพิ่มเตียงใหม่ด้วย Add </a:t>
            </a:r>
          </a:p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และแก้ไขข้อมูลด้วย Edit พร้อมบันทึกการเปลี่ยนแปลง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9558" y="1827608"/>
            <a:ext cx="4665436" cy="3075539"/>
          </a:xfrm>
          <a:custGeom>
            <a:avLst/>
            <a:gdLst/>
            <a:ahLst/>
            <a:cxnLst/>
            <a:rect r="r" b="b" t="t" l="l"/>
            <a:pathLst>
              <a:path h="3075539" w="4665436">
                <a:moveTo>
                  <a:pt x="0" y="0"/>
                </a:moveTo>
                <a:lnTo>
                  <a:pt x="4665436" y="0"/>
                </a:lnTo>
                <a:lnTo>
                  <a:pt x="4665436" y="3075539"/>
                </a:lnTo>
                <a:lnTo>
                  <a:pt x="0" y="3075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49309" y="1827608"/>
            <a:ext cx="4671216" cy="3075539"/>
          </a:xfrm>
          <a:custGeom>
            <a:avLst/>
            <a:gdLst/>
            <a:ahLst/>
            <a:cxnLst/>
            <a:rect r="r" b="b" t="t" l="l"/>
            <a:pathLst>
              <a:path h="3075539" w="4671216">
                <a:moveTo>
                  <a:pt x="0" y="0"/>
                </a:moveTo>
                <a:lnTo>
                  <a:pt x="4671216" y="0"/>
                </a:lnTo>
                <a:lnTo>
                  <a:pt x="4671216" y="3075539"/>
                </a:lnTo>
                <a:lnTo>
                  <a:pt x="0" y="3075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46187" y="1827608"/>
            <a:ext cx="4206625" cy="3075539"/>
          </a:xfrm>
          <a:custGeom>
            <a:avLst/>
            <a:gdLst/>
            <a:ahLst/>
            <a:cxnLst/>
            <a:rect r="r" b="b" t="t" l="l"/>
            <a:pathLst>
              <a:path h="3075539" w="4206625">
                <a:moveTo>
                  <a:pt x="0" y="0"/>
                </a:moveTo>
                <a:lnTo>
                  <a:pt x="4206626" y="0"/>
                </a:lnTo>
                <a:lnTo>
                  <a:pt x="4206626" y="3075539"/>
                </a:lnTo>
                <a:lnTo>
                  <a:pt x="0" y="3075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9558" y="5938082"/>
            <a:ext cx="4665436" cy="3157416"/>
          </a:xfrm>
          <a:custGeom>
            <a:avLst/>
            <a:gdLst/>
            <a:ahLst/>
            <a:cxnLst/>
            <a:rect r="r" b="b" t="t" l="l"/>
            <a:pathLst>
              <a:path h="3157416" w="4665436">
                <a:moveTo>
                  <a:pt x="0" y="0"/>
                </a:moveTo>
                <a:lnTo>
                  <a:pt x="4665436" y="0"/>
                </a:lnTo>
                <a:lnTo>
                  <a:pt x="4665436" y="3157416"/>
                </a:lnTo>
                <a:lnTo>
                  <a:pt x="0" y="31574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00283" y="5938082"/>
            <a:ext cx="4720242" cy="3157416"/>
          </a:xfrm>
          <a:custGeom>
            <a:avLst/>
            <a:gdLst/>
            <a:ahLst/>
            <a:cxnLst/>
            <a:rect r="r" b="b" t="t" l="l"/>
            <a:pathLst>
              <a:path h="3157416" w="4720242">
                <a:moveTo>
                  <a:pt x="0" y="0"/>
                </a:moveTo>
                <a:lnTo>
                  <a:pt x="4720242" y="0"/>
                </a:lnTo>
                <a:lnTo>
                  <a:pt x="4720242" y="3157416"/>
                </a:lnTo>
                <a:lnTo>
                  <a:pt x="0" y="31574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481099" y="5938082"/>
            <a:ext cx="3136802" cy="3157416"/>
          </a:xfrm>
          <a:custGeom>
            <a:avLst/>
            <a:gdLst/>
            <a:ahLst/>
            <a:cxnLst/>
            <a:rect r="r" b="b" t="t" l="l"/>
            <a:pathLst>
              <a:path h="3157416" w="3136802">
                <a:moveTo>
                  <a:pt x="0" y="0"/>
                </a:moveTo>
                <a:lnTo>
                  <a:pt x="3136802" y="0"/>
                </a:lnTo>
                <a:lnTo>
                  <a:pt x="3136802" y="3157416"/>
                </a:lnTo>
                <a:lnTo>
                  <a:pt x="0" y="31574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25075" y="239077"/>
            <a:ext cx="12637850" cy="143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หน้าจอแต่ละหน้าของระบบ พร้อมทั้งการอธิบายการทำงานอย่างคร่าวๆ (คู่มือผู้ใช้ฉบับย่อ)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8792" y="5086350"/>
            <a:ext cx="5086201" cy="6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หน้าจอเพิ่มเตียงผู้ป่วยใหม่ เลือกวอร์ด ประเภทเตียง </a:t>
            </a:r>
          </a:p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และสถานะ จากนั้นกด Add เพื่อบันทึก หรือ Cancel เพื่อยกเลิก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08503" y="5086350"/>
            <a:ext cx="5952827" cy="6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หน้าจอแก้ไข/ลบเตียงผู้ป่วย เลือกวอร์ด ประเภท </a:t>
            </a:r>
          </a:p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และสถานะ กด Save เพื่อบันทึก, Delete เพื่อลบ หรือ Cancel เพื่อยกเลิก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04566" y="5086350"/>
            <a:ext cx="2865983" cy="6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หมวดหมู่ตามการใช้งาน มี 2 เมนู </a:t>
            </a:r>
          </a:p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ได้แก่ Staff , Staff Assignment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2743" y="9080084"/>
            <a:ext cx="4659064" cy="91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Canva Sans"/>
                <a:ea typeface="Canva Sans"/>
                <a:cs typeface="Canva Sans"/>
                <a:sym typeface="Canva Sans"/>
              </a:rPr>
              <a:t>หน้ารายการ Staff แสดงข้อมูลบุคลากร วุฒิการศึกษา </a:t>
            </a:r>
          </a:p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และประสบการณ์ ค้นหาผ่าน Search เพิ่มข้อมูลด้วย Add </a:t>
            </a:r>
          </a:p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และแก้ไขด้วย Edit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58826" y="9070559"/>
            <a:ext cx="5003155" cy="6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หน้าค้นหา Staff ตามวุฒิการศึกษาและประสบการณ์ พิมพ์คำค้น</a:t>
            </a:r>
          </a:p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แล้วกด Search เพื่อกรองและแสดงผลในตาราง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02926" y="9080084"/>
            <a:ext cx="5893147" cy="91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Canva Sans"/>
                <a:ea typeface="Canva Sans"/>
                <a:cs typeface="Canva Sans"/>
                <a:sym typeface="Canva Sans"/>
              </a:rPr>
              <a:t>หน้าจอเพิ่ม Staff ใหม่ กรอกข้อมูลบุคลากร วุฒิการศึกษา </a:t>
            </a:r>
          </a:p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และประสบการณ์ทำงาน กด Add เพื่อบันทึก หรือ Cancel เพื่อยกเลิก</a:t>
            </a:r>
          </a:p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B9574C"/>
                </a:solidFill>
                <a:latin typeface="Gotham"/>
                <a:ea typeface="Gotham"/>
                <a:cs typeface="Gotham"/>
                <a:sym typeface="Gotham"/>
              </a:rPr>
              <a:t>*Staff 1 คน สามารถเพิ่มวุฒิการศึกษา และ ประสบการณ์ทำงานได้หลายอัน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5954" y="1829323"/>
            <a:ext cx="3218243" cy="3557185"/>
          </a:xfrm>
          <a:custGeom>
            <a:avLst/>
            <a:gdLst/>
            <a:ahLst/>
            <a:cxnLst/>
            <a:rect r="r" b="b" t="t" l="l"/>
            <a:pathLst>
              <a:path h="3557185" w="3218243">
                <a:moveTo>
                  <a:pt x="0" y="0"/>
                </a:moveTo>
                <a:lnTo>
                  <a:pt x="3218242" y="0"/>
                </a:lnTo>
                <a:lnTo>
                  <a:pt x="3218242" y="3557186"/>
                </a:lnTo>
                <a:lnTo>
                  <a:pt x="0" y="3557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68824" y="1829323"/>
            <a:ext cx="5423001" cy="3557185"/>
          </a:xfrm>
          <a:custGeom>
            <a:avLst/>
            <a:gdLst/>
            <a:ahLst/>
            <a:cxnLst/>
            <a:rect r="r" b="b" t="t" l="l"/>
            <a:pathLst>
              <a:path h="3557185" w="5423001">
                <a:moveTo>
                  <a:pt x="0" y="0"/>
                </a:moveTo>
                <a:lnTo>
                  <a:pt x="5423001" y="0"/>
                </a:lnTo>
                <a:lnTo>
                  <a:pt x="5423001" y="3557186"/>
                </a:lnTo>
                <a:lnTo>
                  <a:pt x="0" y="35571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91682" y="1829323"/>
            <a:ext cx="6067618" cy="3557185"/>
          </a:xfrm>
          <a:custGeom>
            <a:avLst/>
            <a:gdLst/>
            <a:ahLst/>
            <a:cxnLst/>
            <a:rect r="r" b="b" t="t" l="l"/>
            <a:pathLst>
              <a:path h="3557185" w="6067618">
                <a:moveTo>
                  <a:pt x="0" y="0"/>
                </a:moveTo>
                <a:lnTo>
                  <a:pt x="6067618" y="0"/>
                </a:lnTo>
                <a:lnTo>
                  <a:pt x="6067618" y="3557186"/>
                </a:lnTo>
                <a:lnTo>
                  <a:pt x="0" y="35571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0130" y="6392905"/>
            <a:ext cx="4152870" cy="2836820"/>
          </a:xfrm>
          <a:custGeom>
            <a:avLst/>
            <a:gdLst/>
            <a:ahLst/>
            <a:cxnLst/>
            <a:rect r="r" b="b" t="t" l="l"/>
            <a:pathLst>
              <a:path h="2836820" w="4152870">
                <a:moveTo>
                  <a:pt x="0" y="0"/>
                </a:moveTo>
                <a:lnTo>
                  <a:pt x="4152870" y="0"/>
                </a:lnTo>
                <a:lnTo>
                  <a:pt x="4152870" y="2836820"/>
                </a:lnTo>
                <a:lnTo>
                  <a:pt x="0" y="2836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14963" y="6223954"/>
            <a:ext cx="4330723" cy="3138595"/>
          </a:xfrm>
          <a:custGeom>
            <a:avLst/>
            <a:gdLst/>
            <a:ahLst/>
            <a:cxnLst/>
            <a:rect r="r" b="b" t="t" l="l"/>
            <a:pathLst>
              <a:path h="3138595" w="4330723">
                <a:moveTo>
                  <a:pt x="0" y="0"/>
                </a:moveTo>
                <a:lnTo>
                  <a:pt x="4330723" y="0"/>
                </a:lnTo>
                <a:lnTo>
                  <a:pt x="4330723" y="3138595"/>
                </a:lnTo>
                <a:lnTo>
                  <a:pt x="0" y="31385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87200" y="6264594"/>
            <a:ext cx="5038918" cy="3317515"/>
          </a:xfrm>
          <a:custGeom>
            <a:avLst/>
            <a:gdLst/>
            <a:ahLst/>
            <a:cxnLst/>
            <a:rect r="r" b="b" t="t" l="l"/>
            <a:pathLst>
              <a:path h="3317515" w="5038918">
                <a:moveTo>
                  <a:pt x="0" y="0"/>
                </a:moveTo>
                <a:lnTo>
                  <a:pt x="5038918" y="0"/>
                </a:lnTo>
                <a:lnTo>
                  <a:pt x="5038918" y="3317514"/>
                </a:lnTo>
                <a:lnTo>
                  <a:pt x="0" y="33175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25075" y="239077"/>
            <a:ext cx="12637850" cy="143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หน้าจอแต่ละหน้าของระบบ พร้อมทั้งการอธิบายการทำงานอย่างคร่าวๆ (คู่มือผู้ใช้ฉบับย่อ)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4312" y="5453184"/>
            <a:ext cx="4794945" cy="92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หน้าจอแก้ไข/ลบ Staff แก้ไขข้อมูลบุคลากร วุฒิการศึกษา </a:t>
            </a:r>
          </a:p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และประสบการณ์ กด Save เพื่อบันทึก, Cancel เพื่อยกเลิก </a:t>
            </a:r>
          </a:p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หรือ Delete เพื่อลบ (พร้อมยืนยันก่อนลบจริง)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54029" y="5453184"/>
            <a:ext cx="5252591" cy="6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หน้ารายการมอบหมายงานบุคลากร (Staff Assignment) </a:t>
            </a:r>
          </a:p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ค้นหาผ่าน Search เพิ่มงานด้วย Add และแก้ไขรายการด้วย Edit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03301" y="5610346"/>
            <a:ext cx="5044380" cy="6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หน้าจอมอบหมายงานให้ Staff เลือกข้อมูลวอร์ดและรายละเอียด </a:t>
            </a:r>
          </a:p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กด Add เพื่อบันทึก หรือ Cancel เพื่อยกเลิก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2476" y="9182100"/>
            <a:ext cx="4105126" cy="92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หน้าจอแก้ไข/ลบการมอบหมายงานสตาฟ กด Save </a:t>
            </a:r>
          </a:p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เพื่อบันทึก, Delete เพื่อลบ หรือ Cancel </a:t>
            </a:r>
          </a:p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เพื่อยกเลิกและกลับไปหน้าก่อนหน้า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88050" y="9149514"/>
            <a:ext cx="2584549" cy="96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1"/>
              </a:lnSpc>
              <a:spcBef>
                <a:spcPct val="0"/>
              </a:spcBef>
            </a:pPr>
            <a:r>
              <a:rPr lang="en-US" sz="1300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เมนูหมวดหมู่การใช้งาน แบ่งเป็น 4 ส่วน </a:t>
            </a:r>
          </a:p>
          <a:p>
            <a:pPr algn="ctr">
              <a:lnSpc>
                <a:spcPts val="1866"/>
              </a:lnSpc>
              <a:spcBef>
                <a:spcPct val="0"/>
              </a:spcBef>
            </a:pPr>
            <a:r>
              <a:rPr lang="en-US" sz="1200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ได้แก่ Patient Registration,</a:t>
            </a:r>
          </a:p>
          <a:p>
            <a:pPr algn="ctr">
              <a:lnSpc>
                <a:spcPts val="2021"/>
              </a:lnSpc>
              <a:spcBef>
                <a:spcPct val="0"/>
              </a:spcBef>
            </a:pPr>
            <a:r>
              <a:rPr lang="en-US" sz="1300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 Patient Appointment,</a:t>
            </a:r>
          </a:p>
          <a:p>
            <a:pPr algn="ctr">
              <a:lnSpc>
                <a:spcPts val="2022"/>
              </a:lnSpc>
              <a:spcBef>
                <a:spcPct val="0"/>
              </a:spcBef>
            </a:pPr>
            <a:r>
              <a:rPr lang="en-US" sz="1300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 In-Patients และ Waiting List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53398" y="9389646"/>
            <a:ext cx="5027414" cy="6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หน้าจอจัดการนัดหมายผู้ป่วยและการส่งต่อคลินิก </a:t>
            </a:r>
          </a:p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ค้นหาผ่าน Search เพิ่มนัดหมายด้วย Add และแก้ไขด้วย Edit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25075" y="1769240"/>
            <a:ext cx="5698181" cy="6845177"/>
          </a:xfrm>
          <a:custGeom>
            <a:avLst/>
            <a:gdLst/>
            <a:ahLst/>
            <a:cxnLst/>
            <a:rect r="r" b="b" t="t" l="l"/>
            <a:pathLst>
              <a:path h="6845177" w="5698181">
                <a:moveTo>
                  <a:pt x="0" y="0"/>
                </a:moveTo>
                <a:lnTo>
                  <a:pt x="5698181" y="0"/>
                </a:lnTo>
                <a:lnTo>
                  <a:pt x="5698181" y="6845177"/>
                </a:lnTo>
                <a:lnTo>
                  <a:pt x="0" y="684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96400" y="1769240"/>
            <a:ext cx="6019474" cy="6748521"/>
          </a:xfrm>
          <a:custGeom>
            <a:avLst/>
            <a:gdLst/>
            <a:ahLst/>
            <a:cxnLst/>
            <a:rect r="r" b="b" t="t" l="l"/>
            <a:pathLst>
              <a:path h="6748521" w="6019474">
                <a:moveTo>
                  <a:pt x="0" y="0"/>
                </a:moveTo>
                <a:lnTo>
                  <a:pt x="6019474" y="0"/>
                </a:lnTo>
                <a:lnTo>
                  <a:pt x="6019474" y="6748520"/>
                </a:lnTo>
                <a:lnTo>
                  <a:pt x="0" y="6748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25075" y="239077"/>
            <a:ext cx="12637850" cy="143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หน้าจอแต่ละหน้าของระบบ พร้อมทั้งการอธิบายการทำงานอย่างคร่าวๆ (คู่มือผู้ใช้ฉบับย่อ)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25075" y="8652517"/>
            <a:ext cx="5698181" cy="61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หน้าจอเพิ่มผู้ป่วยใหม่ กรอกข้อมูลส่วนตัว การรักษา ญาติ และแพทย์ที่ดูแล กด Add เพื่อบันทึก หรือ Cancel เพื่อยกเลิก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44919" y="8652517"/>
            <a:ext cx="5177284" cy="6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หน้าจอแก้ไขข้อมูลผู้ป่วย แก้ไขแล้วกด Save เพื่อบันทึก, Delete </a:t>
            </a:r>
          </a:p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เพื่อลบข้อมูล หรือ Cancel เพื่อยกเลิกและกลับไปหน้าก่อนหน้า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3025" y="1800528"/>
            <a:ext cx="4832975" cy="3180362"/>
          </a:xfrm>
          <a:custGeom>
            <a:avLst/>
            <a:gdLst/>
            <a:ahLst/>
            <a:cxnLst/>
            <a:rect r="r" b="b" t="t" l="l"/>
            <a:pathLst>
              <a:path h="3180362" w="4832975">
                <a:moveTo>
                  <a:pt x="0" y="0"/>
                </a:moveTo>
                <a:lnTo>
                  <a:pt x="4832975" y="0"/>
                </a:lnTo>
                <a:lnTo>
                  <a:pt x="4832975" y="3180362"/>
                </a:lnTo>
                <a:lnTo>
                  <a:pt x="0" y="3180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81054" y="1800528"/>
            <a:ext cx="4849693" cy="3180362"/>
          </a:xfrm>
          <a:custGeom>
            <a:avLst/>
            <a:gdLst/>
            <a:ahLst/>
            <a:cxnLst/>
            <a:rect r="r" b="b" t="t" l="l"/>
            <a:pathLst>
              <a:path h="3180362" w="4849693">
                <a:moveTo>
                  <a:pt x="0" y="0"/>
                </a:moveTo>
                <a:lnTo>
                  <a:pt x="4849692" y="0"/>
                </a:lnTo>
                <a:lnTo>
                  <a:pt x="4849692" y="3180362"/>
                </a:lnTo>
                <a:lnTo>
                  <a:pt x="0" y="31803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74058" y="5661172"/>
            <a:ext cx="4801723" cy="3180362"/>
          </a:xfrm>
          <a:custGeom>
            <a:avLst/>
            <a:gdLst/>
            <a:ahLst/>
            <a:cxnLst/>
            <a:rect r="r" b="b" t="t" l="l"/>
            <a:pathLst>
              <a:path h="3180362" w="4801723">
                <a:moveTo>
                  <a:pt x="0" y="0"/>
                </a:moveTo>
                <a:lnTo>
                  <a:pt x="4801724" y="0"/>
                </a:lnTo>
                <a:lnTo>
                  <a:pt x="4801724" y="3180362"/>
                </a:lnTo>
                <a:lnTo>
                  <a:pt x="0" y="3180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92000" y="1800528"/>
            <a:ext cx="4809501" cy="3180362"/>
          </a:xfrm>
          <a:custGeom>
            <a:avLst/>
            <a:gdLst/>
            <a:ahLst/>
            <a:cxnLst/>
            <a:rect r="r" b="b" t="t" l="l"/>
            <a:pathLst>
              <a:path h="3180362" w="4809501">
                <a:moveTo>
                  <a:pt x="0" y="0"/>
                </a:moveTo>
                <a:lnTo>
                  <a:pt x="4809501" y="0"/>
                </a:lnTo>
                <a:lnTo>
                  <a:pt x="4809501" y="3180362"/>
                </a:lnTo>
                <a:lnTo>
                  <a:pt x="0" y="3180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81054" y="5661172"/>
            <a:ext cx="5036841" cy="3180362"/>
          </a:xfrm>
          <a:custGeom>
            <a:avLst/>
            <a:gdLst/>
            <a:ahLst/>
            <a:cxnLst/>
            <a:rect r="r" b="b" t="t" l="l"/>
            <a:pathLst>
              <a:path h="3180362" w="5036841">
                <a:moveTo>
                  <a:pt x="0" y="0"/>
                </a:moveTo>
                <a:lnTo>
                  <a:pt x="5036841" y="0"/>
                </a:lnTo>
                <a:lnTo>
                  <a:pt x="5036841" y="3180362"/>
                </a:lnTo>
                <a:lnTo>
                  <a:pt x="0" y="31803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545331"/>
            <a:ext cx="4961901" cy="3236022"/>
          </a:xfrm>
          <a:custGeom>
            <a:avLst/>
            <a:gdLst/>
            <a:ahLst/>
            <a:cxnLst/>
            <a:rect r="r" b="b" t="t" l="l"/>
            <a:pathLst>
              <a:path h="3236022" w="4961901">
                <a:moveTo>
                  <a:pt x="0" y="0"/>
                </a:moveTo>
                <a:lnTo>
                  <a:pt x="4961901" y="0"/>
                </a:lnTo>
                <a:lnTo>
                  <a:pt x="4961901" y="3236023"/>
                </a:lnTo>
                <a:lnTo>
                  <a:pt x="0" y="3236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25075" y="239077"/>
            <a:ext cx="12637850" cy="143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หน้าจอแต่ละหน้าของระบบ พร้อมทั้งการอธิบายการทำงานอย่างคร่าวๆ (คู่มือผู้ใช้ฉบับย่อ)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3243" y="4923740"/>
            <a:ext cx="4592538" cy="6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หน้าจอดูนัดหมายและการส่งต่อคลินิก ค้นหาผ่าน Search </a:t>
            </a:r>
          </a:p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เพิ่มนัดหมายด้วย Add และแก้ไขด้วย Edit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03194" y="4965312"/>
            <a:ext cx="5281612" cy="58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2"/>
              </a:lnSpc>
              <a:spcBef>
                <a:spcPct val="0"/>
              </a:spcBef>
            </a:pPr>
            <a:r>
              <a:rPr lang="en-US" sz="1500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หน้าจอเพิ่มนัดหมายผู้ป่วย เลือกผู้ป่วย วอร์ด วันที่นัด ห้องตรวจ สถานะ </a:t>
            </a:r>
          </a:p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500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และเจ้าหน้าที่ กด Add เพื่อบันทึก หรือ Cancel เพื่อยกเลิก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92000" y="4984362"/>
            <a:ext cx="4809501" cy="536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7"/>
              </a:lnSpc>
              <a:spcBef>
                <a:spcPct val="0"/>
              </a:spcBef>
            </a:pPr>
            <a:r>
              <a:rPr lang="en-US" sz="1400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หน้าจอแก้ไขนัดหมายผู้ป่วย ปรับข้อมูลแล้วกด Save เพื่อบันทึก, Delete เพื่อลบ หรือ Cancel เพื่อยกเลิกและกลับไปหน้าก่อนหน้า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4058" y="8908209"/>
            <a:ext cx="4809501" cy="92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หน้าจอจัดการผู้ป่วยใน แสดงรายชื่อและรายละเอียดผู้ป่วยที่ Admit ตามวอร์ด ค้นหาผ่าน Search เพิ่มผู้ป่วยด้วย Add และแก้ไขด้วย Edit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81054" y="8784384"/>
            <a:ext cx="5036841" cy="92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หน้าจอบันทึกการ Admit ผู้ป่วย เลือกผู้ป่วย วอร์ด เตียง และวันที่เข้าพัก ระบุระยะเวลา-วันออก กด Add เพื่อบันทึก หรือ Cancel เพื่อยกเลิก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92000" y="8724204"/>
            <a:ext cx="4961901" cy="92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หน้าจอแก้ไขข้อมูลการ Admit ผู้ป่วย ปรับรายละเอียดแล้วกด Save เพื่อบันทึก, Delete เพื่อลบ หรือ Cancel เพื่อยกเลิกและกลับไปหน้าก่อนหน้า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3672" y="1778550"/>
            <a:ext cx="4783057" cy="3119695"/>
          </a:xfrm>
          <a:custGeom>
            <a:avLst/>
            <a:gdLst/>
            <a:ahLst/>
            <a:cxnLst/>
            <a:rect r="r" b="b" t="t" l="l"/>
            <a:pathLst>
              <a:path h="3119695" w="4783057">
                <a:moveTo>
                  <a:pt x="0" y="0"/>
                </a:moveTo>
                <a:lnTo>
                  <a:pt x="4783056" y="0"/>
                </a:lnTo>
                <a:lnTo>
                  <a:pt x="4783056" y="3119695"/>
                </a:lnTo>
                <a:lnTo>
                  <a:pt x="0" y="31196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78218" y="1778550"/>
            <a:ext cx="4732292" cy="3119695"/>
          </a:xfrm>
          <a:custGeom>
            <a:avLst/>
            <a:gdLst/>
            <a:ahLst/>
            <a:cxnLst/>
            <a:rect r="r" b="b" t="t" l="l"/>
            <a:pathLst>
              <a:path h="3119695" w="4732292">
                <a:moveTo>
                  <a:pt x="0" y="0"/>
                </a:moveTo>
                <a:lnTo>
                  <a:pt x="4732292" y="0"/>
                </a:lnTo>
                <a:lnTo>
                  <a:pt x="4732292" y="3119695"/>
                </a:lnTo>
                <a:lnTo>
                  <a:pt x="0" y="31196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92000" y="1778550"/>
            <a:ext cx="4782646" cy="3119695"/>
          </a:xfrm>
          <a:custGeom>
            <a:avLst/>
            <a:gdLst/>
            <a:ahLst/>
            <a:cxnLst/>
            <a:rect r="r" b="b" t="t" l="l"/>
            <a:pathLst>
              <a:path h="3119695" w="4782646">
                <a:moveTo>
                  <a:pt x="0" y="0"/>
                </a:moveTo>
                <a:lnTo>
                  <a:pt x="4782646" y="0"/>
                </a:lnTo>
                <a:lnTo>
                  <a:pt x="4782646" y="3119695"/>
                </a:lnTo>
                <a:lnTo>
                  <a:pt x="0" y="31196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3672" y="5714392"/>
            <a:ext cx="4783057" cy="2882869"/>
          </a:xfrm>
          <a:custGeom>
            <a:avLst/>
            <a:gdLst/>
            <a:ahLst/>
            <a:cxnLst/>
            <a:rect r="r" b="b" t="t" l="l"/>
            <a:pathLst>
              <a:path h="2882869" w="4783057">
                <a:moveTo>
                  <a:pt x="0" y="0"/>
                </a:moveTo>
                <a:lnTo>
                  <a:pt x="4783056" y="0"/>
                </a:lnTo>
                <a:lnTo>
                  <a:pt x="4783056" y="2882870"/>
                </a:lnTo>
                <a:lnTo>
                  <a:pt x="0" y="2882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700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52487" y="5636906"/>
            <a:ext cx="4658023" cy="3037841"/>
          </a:xfrm>
          <a:custGeom>
            <a:avLst/>
            <a:gdLst/>
            <a:ahLst/>
            <a:cxnLst/>
            <a:rect r="r" b="b" t="t" l="l"/>
            <a:pathLst>
              <a:path h="3037841" w="4658023">
                <a:moveTo>
                  <a:pt x="0" y="0"/>
                </a:moveTo>
                <a:lnTo>
                  <a:pt x="4658023" y="0"/>
                </a:lnTo>
                <a:lnTo>
                  <a:pt x="4658023" y="3037841"/>
                </a:lnTo>
                <a:lnTo>
                  <a:pt x="0" y="30378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1560" y="5657791"/>
            <a:ext cx="4656461" cy="3016957"/>
          </a:xfrm>
          <a:custGeom>
            <a:avLst/>
            <a:gdLst/>
            <a:ahLst/>
            <a:cxnLst/>
            <a:rect r="r" b="b" t="t" l="l"/>
            <a:pathLst>
              <a:path h="3016957" w="4656461">
                <a:moveTo>
                  <a:pt x="0" y="0"/>
                </a:moveTo>
                <a:lnTo>
                  <a:pt x="4656461" y="0"/>
                </a:lnTo>
                <a:lnTo>
                  <a:pt x="4656461" y="3016956"/>
                </a:lnTo>
                <a:lnTo>
                  <a:pt x="0" y="30169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25075" y="239077"/>
            <a:ext cx="12637850" cy="143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หน้าจอแต่ละหน้าของระบบ พร้อมทั้งการอธิบายการทำงานอย่างคร่าวๆ (คู่มือผู้ใช้ฉบับย่อ)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3672" y="4808150"/>
            <a:ext cx="4732292" cy="61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หน้าจอรายชื่อผู้ป่วยรอเข้ารักษา แสดงข้อมูลในตาราง ค้นหาผ่าน Search เพิ่มผู้ป่วยด้วย Add และแก้ไขด้วย Edit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78218" y="4841095"/>
            <a:ext cx="4732292" cy="61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หน้าจอเพิ่มผู้ป่วยเข้าสู่รายการรอ เลือกผู้ป่วย วันที่ วอร์ด และสถานะ กด Add เพื่อบันทึก หรือ Cancel เพื่อยกเลิก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91560" y="4683933"/>
            <a:ext cx="4732292" cy="92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หน้าจอแก้ไขผู้ป่วยในรายการรอ ปรับข้อมูลแล้วกด Save เพื่อบันทึก, Delete เพื่อลบ หรือ Cancel เพื่อยกเลิกและกลับไปหน้าก่อนหน้า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7025" y="8644693"/>
            <a:ext cx="5594449" cy="6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เมนูหมวดหมู่การใช้งาน แบ่งเป็น 2 ส่วน ได้แก่ Patient Medication </a:t>
            </a:r>
          </a:p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และ Pharmaceutical Supplie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52487" y="8654218"/>
            <a:ext cx="4658023" cy="91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Canva Sans"/>
                <a:ea typeface="Canva Sans"/>
                <a:cs typeface="Canva Sans"/>
                <a:sym typeface="Canva Sans"/>
              </a:rPr>
              <a:t>หน้าจอตรวจสอบการใช้ยาผู้ป่วย แสดงชื่อผู้ป่วย ชื่อยา ขนาด และวิธีให้ยา ค้นหาผ่าน Search เพิ่มด้วย Add และแก้ไขด้วย Edit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91560" y="8775312"/>
            <a:ext cx="4656461" cy="91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Canva Sans"/>
                <a:ea typeface="Canva Sans"/>
                <a:cs typeface="Canva Sans"/>
                <a:sym typeface="Canva Sans"/>
              </a:rPr>
              <a:t>หน้าจอเพิ่มการใช้ยาผู้ป่วย เลือกผู้ป่วย ชื่อยา ขนาด วิธีให้ยา วันเริ่ม–สิ้นสุด และพยาบาลผู้รับผิดชอบ กด Add เพื่อบันทึก หรือ Cancel เพื่อยกเลิก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32227"/>
            <a:ext cx="4817263" cy="2876293"/>
          </a:xfrm>
          <a:custGeom>
            <a:avLst/>
            <a:gdLst/>
            <a:ahLst/>
            <a:cxnLst/>
            <a:rect r="r" b="b" t="t" l="l"/>
            <a:pathLst>
              <a:path h="2876293" w="4817263">
                <a:moveTo>
                  <a:pt x="0" y="0"/>
                </a:moveTo>
                <a:lnTo>
                  <a:pt x="4817263" y="0"/>
                </a:lnTo>
                <a:lnTo>
                  <a:pt x="4817263" y="2876293"/>
                </a:lnTo>
                <a:lnTo>
                  <a:pt x="0" y="287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35886" y="1675448"/>
            <a:ext cx="4416957" cy="3033073"/>
          </a:xfrm>
          <a:custGeom>
            <a:avLst/>
            <a:gdLst/>
            <a:ahLst/>
            <a:cxnLst/>
            <a:rect r="r" b="b" t="t" l="l"/>
            <a:pathLst>
              <a:path h="3033073" w="4416957">
                <a:moveTo>
                  <a:pt x="0" y="0"/>
                </a:moveTo>
                <a:lnTo>
                  <a:pt x="4416957" y="0"/>
                </a:lnTo>
                <a:lnTo>
                  <a:pt x="4416957" y="3033072"/>
                </a:lnTo>
                <a:lnTo>
                  <a:pt x="0" y="30330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73380" y="1832227"/>
            <a:ext cx="4374641" cy="2876293"/>
          </a:xfrm>
          <a:custGeom>
            <a:avLst/>
            <a:gdLst/>
            <a:ahLst/>
            <a:cxnLst/>
            <a:rect r="r" b="b" t="t" l="l"/>
            <a:pathLst>
              <a:path h="2876293" w="4374641">
                <a:moveTo>
                  <a:pt x="0" y="0"/>
                </a:moveTo>
                <a:lnTo>
                  <a:pt x="4374641" y="0"/>
                </a:lnTo>
                <a:lnTo>
                  <a:pt x="4374641" y="2876293"/>
                </a:lnTo>
                <a:lnTo>
                  <a:pt x="0" y="28762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5363" y="5736025"/>
            <a:ext cx="4763937" cy="3079216"/>
          </a:xfrm>
          <a:custGeom>
            <a:avLst/>
            <a:gdLst/>
            <a:ahLst/>
            <a:cxnLst/>
            <a:rect r="r" b="b" t="t" l="l"/>
            <a:pathLst>
              <a:path h="3079216" w="4763937">
                <a:moveTo>
                  <a:pt x="0" y="0"/>
                </a:moveTo>
                <a:lnTo>
                  <a:pt x="4763937" y="0"/>
                </a:lnTo>
                <a:lnTo>
                  <a:pt x="4763937" y="3079216"/>
                </a:lnTo>
                <a:lnTo>
                  <a:pt x="0" y="30792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35886" y="5806903"/>
            <a:ext cx="4554967" cy="3016034"/>
          </a:xfrm>
          <a:custGeom>
            <a:avLst/>
            <a:gdLst/>
            <a:ahLst/>
            <a:cxnLst/>
            <a:rect r="r" b="b" t="t" l="l"/>
            <a:pathLst>
              <a:path h="3016034" w="4554967">
                <a:moveTo>
                  <a:pt x="0" y="0"/>
                </a:moveTo>
                <a:lnTo>
                  <a:pt x="4554967" y="0"/>
                </a:lnTo>
                <a:lnTo>
                  <a:pt x="4554967" y="3016034"/>
                </a:lnTo>
                <a:lnTo>
                  <a:pt x="0" y="30160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366828" y="5640383"/>
            <a:ext cx="4381755" cy="2997356"/>
          </a:xfrm>
          <a:custGeom>
            <a:avLst/>
            <a:gdLst/>
            <a:ahLst/>
            <a:cxnLst/>
            <a:rect r="r" b="b" t="t" l="l"/>
            <a:pathLst>
              <a:path h="2997356" w="4381755">
                <a:moveTo>
                  <a:pt x="0" y="0"/>
                </a:moveTo>
                <a:lnTo>
                  <a:pt x="4381755" y="0"/>
                </a:lnTo>
                <a:lnTo>
                  <a:pt x="4381755" y="2997356"/>
                </a:lnTo>
                <a:lnTo>
                  <a:pt x="0" y="29973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25075" y="239077"/>
            <a:ext cx="12637850" cy="143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หน้าจอแต่ละหน้าของระบบ พร้อมทั้งการอธิบายการทำงานอย่างคร่าวๆ (คู่มือผู้ใช้ฉบับย่อ)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3672" y="4808150"/>
            <a:ext cx="4732292" cy="92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หน้าจอแก้ไขการใช้ยาผู้ป่วย ปรับชื่อยา ขนาด วิธีให้ยา ช่วงวัน และพยาบาลผู้รับผิดชอบ กด Save เพื่อบันทึก, Delete เพื่อลบ หรือ Cancel เพื่อยกเลิก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78218" y="4841095"/>
            <a:ext cx="4732292" cy="92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หน้าจอจัดการข้อมูลยา แสดงชื่อยา ขนาด จำนวนคงเหลือ และระดับสั่งซื้อใหม่ ค้นหาผ่าน Search เพิ่มด้วย Add และแก้ไขด้วย Edit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91560" y="4683933"/>
            <a:ext cx="4732292" cy="92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หน้าจอเพิ่มข้อมูลยาใหม่ กรอกชื่อยา คำอธิบาย ขนาด จำนวนคงเหลือ และระดับสั่งซื้อใหม่ กด Save เพื่อบันทึก หรือ Cancel เพื่อยกเลิก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5387" y="8906687"/>
            <a:ext cx="4723890" cy="92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ห</a:t>
            </a:r>
            <a:r>
              <a:rPr lang="en-US" sz="15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น้าจอแก้ไข/ลบข้อมูลยา ปรับชื่อยา รายละเอียด ขนาด จำนวนคงเหลือ และระดับสั่งซื้อใหม่ กด Save เพื่อบันทึก, Delete เพื่อลบ หรือ Cancel เพื่อยกเลิก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52487" y="9073375"/>
            <a:ext cx="4658023" cy="60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Canva Sans"/>
                <a:ea typeface="Canva Sans"/>
                <a:cs typeface="Canva Sans"/>
                <a:sym typeface="Canva Sans"/>
              </a:rPr>
              <a:t>หน้าจอจัดการข้อมูลวอร์ด ค้นหาผ่าน Search เพื่อแสดงรายการ เพิ่มวอร์ดด้วย Add และแก้ไขด้วย Edit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91560" y="8775312"/>
            <a:ext cx="4656461" cy="91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Canva Sans"/>
                <a:ea typeface="Canva Sans"/>
                <a:cs typeface="Canva Sans"/>
                <a:sym typeface="Canva Sans"/>
              </a:rPr>
              <a:t>หน้าจอเพิ่มคำร้องขอเวชภัณฑ์ เลือกวันที่ร้องขอ วอร์ด พยาบาลหัวหน้า และรายการยา ระบุจำนวน กด Add เพื่อบันทึก หรือ Cancel เพื่อยกเลิก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19385" y="1888945"/>
            <a:ext cx="4849230" cy="3081692"/>
          </a:xfrm>
          <a:custGeom>
            <a:avLst/>
            <a:gdLst/>
            <a:ahLst/>
            <a:cxnLst/>
            <a:rect r="r" b="b" t="t" l="l"/>
            <a:pathLst>
              <a:path h="3081692" w="4849230">
                <a:moveTo>
                  <a:pt x="0" y="0"/>
                </a:moveTo>
                <a:lnTo>
                  <a:pt x="4849230" y="0"/>
                </a:lnTo>
                <a:lnTo>
                  <a:pt x="4849230" y="3081692"/>
                </a:lnTo>
                <a:lnTo>
                  <a:pt x="0" y="3081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7558" y="1888945"/>
            <a:ext cx="4718442" cy="3081692"/>
          </a:xfrm>
          <a:custGeom>
            <a:avLst/>
            <a:gdLst/>
            <a:ahLst/>
            <a:cxnLst/>
            <a:rect r="r" b="b" t="t" l="l"/>
            <a:pathLst>
              <a:path h="3081692" w="4718442">
                <a:moveTo>
                  <a:pt x="0" y="0"/>
                </a:moveTo>
                <a:lnTo>
                  <a:pt x="4718442" y="0"/>
                </a:lnTo>
                <a:lnTo>
                  <a:pt x="4718442" y="3081692"/>
                </a:lnTo>
                <a:lnTo>
                  <a:pt x="0" y="30816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98775" y="1888945"/>
            <a:ext cx="4722677" cy="3081692"/>
          </a:xfrm>
          <a:custGeom>
            <a:avLst/>
            <a:gdLst/>
            <a:ahLst/>
            <a:cxnLst/>
            <a:rect r="r" b="b" t="t" l="l"/>
            <a:pathLst>
              <a:path h="3081692" w="4722677">
                <a:moveTo>
                  <a:pt x="0" y="0"/>
                </a:moveTo>
                <a:lnTo>
                  <a:pt x="4722678" y="0"/>
                </a:lnTo>
                <a:lnTo>
                  <a:pt x="4722678" y="3081692"/>
                </a:lnTo>
                <a:lnTo>
                  <a:pt x="0" y="3081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41579" y="6050912"/>
            <a:ext cx="4718442" cy="3073239"/>
          </a:xfrm>
          <a:custGeom>
            <a:avLst/>
            <a:gdLst/>
            <a:ahLst/>
            <a:cxnLst/>
            <a:rect r="r" b="b" t="t" l="l"/>
            <a:pathLst>
              <a:path h="3073239" w="4718442">
                <a:moveTo>
                  <a:pt x="0" y="0"/>
                </a:moveTo>
                <a:lnTo>
                  <a:pt x="4718442" y="0"/>
                </a:lnTo>
                <a:lnTo>
                  <a:pt x="4718442" y="3073239"/>
                </a:lnTo>
                <a:lnTo>
                  <a:pt x="0" y="30732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62585" y="6050912"/>
            <a:ext cx="4849230" cy="3198565"/>
          </a:xfrm>
          <a:custGeom>
            <a:avLst/>
            <a:gdLst/>
            <a:ahLst/>
            <a:cxnLst/>
            <a:rect r="r" b="b" t="t" l="l"/>
            <a:pathLst>
              <a:path h="3198565" w="4849230">
                <a:moveTo>
                  <a:pt x="0" y="0"/>
                </a:moveTo>
                <a:lnTo>
                  <a:pt x="4849230" y="0"/>
                </a:lnTo>
                <a:lnTo>
                  <a:pt x="4849230" y="3198565"/>
                </a:lnTo>
                <a:lnTo>
                  <a:pt x="0" y="31985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25075" y="239077"/>
            <a:ext cx="12637850" cy="143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หน้าจอแต่ละหน้าของระบบ พร้อมทั้งการอธิบายการทำงานอย่างคร่าวๆ (คู่มือผู้ใช้ฉบับย่อ)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8700" y="5132562"/>
            <a:ext cx="4627300" cy="91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Canva Sans"/>
                <a:ea typeface="Canva Sans"/>
                <a:cs typeface="Canva Sans"/>
                <a:sym typeface="Canva Sans"/>
              </a:rPr>
              <a:t>หน้าจอแก้ไขคำร้องขอเวชภัณฑ์ ปรับวันที่ร้องขอ วอร์ด พยาบาลหัวหน้า รายการยาและจำนวน กด Save เพื่อบันทึก, Delete เพื่อลบ หรือ Cancel เพื่อยกเลิก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81006" y="5132562"/>
            <a:ext cx="4325987" cy="60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Canva Sans"/>
                <a:ea typeface="Canva Sans"/>
                <a:cs typeface="Canva Sans"/>
                <a:sym typeface="Canva Sans"/>
              </a:rPr>
              <a:t>เมนูหมวดหมู่การใช้งาน แบ่งเป็น 3 ส่วน ได้แก่ Staff Report, Ward Report และ Medication Report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19254" y="5095875"/>
            <a:ext cx="5081721" cy="60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Canva Sans"/>
                <a:ea typeface="Canva Sans"/>
                <a:cs typeface="Canva Sans"/>
                <a:sym typeface="Canva Sans"/>
              </a:rPr>
              <a:t>หน้ารายงานการปฏิบัติงานบุคลากร แสดงรายชื่อสตาฟ ตำแหน่ง จำนวนกะ และชั่วโมงการทำงาน ค้นหาข้อมูลได้ผ่าน Search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41579" y="9194412"/>
            <a:ext cx="4718442" cy="91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Canva Sans"/>
                <a:ea typeface="Canva Sans"/>
                <a:cs typeface="Canva Sans"/>
                <a:sym typeface="Canva Sans"/>
              </a:rPr>
              <a:t>หน้ารายงานข้อมูลวอร์ด แสดงวันที่ออกรายงาน หมายเลข/ชื่อวอร์ด เบอร์โทรภายใน จำนวนเตียงทั้งหมด และเตียงที่ถูกใช้งาน ค้นหาวอร์ดผ่าน Search ได้สะดวก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62585" y="9210675"/>
            <a:ext cx="4849230" cy="91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599">
                <a:solidFill>
                  <a:srgbClr val="041F60"/>
                </a:solidFill>
                <a:latin typeface="Canva Sans"/>
                <a:ea typeface="Canva Sans"/>
                <a:cs typeface="Canva Sans"/>
                <a:sym typeface="Canva Sans"/>
              </a:rPr>
              <a:t>หน้ารายงานการใช้เวชภัณฑ์ แสดงวอร์ด ชื่อยา จำนวนร้องขอ ยอดรวม และสต็อก ค้นหาข้อมูลผ่าน Search เพื่อติดตามการใช้และการจัดการเวชภัณฑ์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3831627"/>
            <a:ext cx="18592800" cy="266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2"/>
              </a:lnSpc>
            </a:pPr>
            <a:r>
              <a:rPr lang="en-US" sz="144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Thank you</a:t>
            </a:r>
          </a:p>
          <a:p>
            <a:pPr algn="ctr">
              <a:lnSpc>
                <a:spcPts val="4218"/>
              </a:lnSpc>
            </a:pPr>
            <a:r>
              <a:rPr lang="en-US" sz="36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https://youtu.be/vO9Gzc5fJqQ?si=P9zlMdfKopXLptVu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DAG0do92vrg</dc:identifier>
  <dcterms:modified xsi:type="dcterms:W3CDTF">2011-08-01T06:04:30Z</dcterms:modified>
  <cp:revision>1</cp:revision>
  <dc:title>Strategic Project Roadmaps Infographic Presentation</dc:title>
</cp:coreProperties>
</file>